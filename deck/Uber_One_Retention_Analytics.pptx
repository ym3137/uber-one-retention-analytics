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Cinzel"/>
      <p:regular r:id="rId24"/>
      <p:bold r:id="rId25"/>
    </p:embeddedFont>
    <p:embeddedFont>
      <p:font typeface="Oswald SemiBold"/>
      <p:regular r:id="rId26"/>
      <p:bold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Cinzel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SemiBold-regular.fntdata"/><Relationship Id="rId25" Type="http://schemas.openxmlformats.org/officeDocument/2006/relationships/font" Target="fonts/Cinzel-bold.fntdata"/><Relationship Id="rId28" Type="http://schemas.openxmlformats.org/officeDocument/2006/relationships/font" Target="fonts/Oswald-regular.fntdata"/><Relationship Id="rId27" Type="http://schemas.openxmlformats.org/officeDocument/2006/relationships/font" Target="fonts/Oswald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8a01aa9b3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8a01aa9b3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a01aa9b34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a01aa9b34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bc9df666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abc9df666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b9dcf40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b9dcf40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9dfbcf40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a9dfbcf40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a21fdb7d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aa21fdb7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912d2a34f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912d2a34f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8d7701c0b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8d7701c0b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6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a3c9bc2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a3c9bc2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a4fd814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aa4fd814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8c073b35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8c073b35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8c1c92de1f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8c1c92de1f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86c3f04d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86c3f04d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31" name="Google Shape;31;p4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rtl="0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" name="Google Shape;43;p5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6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6" name="Google Shape;56;p7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2" name="Google Shape;62;p7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6" name="Google Shape;66;p8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8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9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7" name="Google Shape;77;p9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" name="Google Shape;78;p9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1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4" name="Google Shape;104;p13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9" name="Google Shape;119;p14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0" name="Google Shape;120;p14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4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29" name="Google Shape;129;p15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0" name="Google Shape;130;p15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1" name="Google Shape;131;p15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" name="Google Shape;132;p15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3" name="Google Shape;133;p15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4" name="Google Shape;134;p15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1" name="Google Shape;141;p16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2" name="Google Shape;142;p16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3" name="Google Shape;143;p16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5" name="Google Shape;145;p16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53" name="Google Shape;153;p17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4" name="Google Shape;154;p17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55" name="Google Shape;155;p17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6" name="Google Shape;156;p17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8" name="Google Shape;158;p17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5" name="Google Shape;165;p18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6" name="Google Shape;166;p18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8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8" name="Google Shape;168;p18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9" name="Google Shape;169;p18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70" name="Google Shape;170;p18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1" name="Google Shape;171;p18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3" name="Google Shape;183;p19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4" name="Google Shape;184;p1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1" name="Google Shape;191;p20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2" name="Google Shape;192;p20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4" name="Google Shape;194;p20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5" name="Google Shape;195;p20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20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0" name="Google Shape;210;p21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1" name="Google Shape;211;p21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4" name="Google Shape;214;p21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5" name="Google Shape;215;p21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6" name="Google Shape;216;p21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21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5" name="Google Shape;225;p22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6" name="Google Shape;226;p22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" name="Google Shape;232;p23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35" name="Google Shape;235;p23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38" name="Google Shape;238;p23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" name="Google Shape;244;p24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5" name="Google Shape;245;p24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6" name="Google Shape;266;p28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74" name="Google Shape;274;p29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9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9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83" name="Google Shape;283;p30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0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0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ctrTitle"/>
          </p:nvPr>
        </p:nvSpPr>
        <p:spPr>
          <a:xfrm>
            <a:off x="0" y="1074550"/>
            <a:ext cx="53055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Uber One Retention Analytics </a:t>
            </a:r>
            <a:endParaRPr sz="4600">
              <a:solidFill>
                <a:srgbClr val="20124D"/>
              </a:solidFill>
            </a:endParaRPr>
          </a:p>
        </p:txBody>
      </p:sp>
      <p:sp>
        <p:nvSpPr>
          <p:cNvPr id="293" name="Google Shape;293;p31"/>
          <p:cNvSpPr txBox="1"/>
          <p:nvPr>
            <p:ph idx="1" type="subTitle"/>
          </p:nvPr>
        </p:nvSpPr>
        <p:spPr>
          <a:xfrm>
            <a:off x="493800" y="2910813"/>
            <a:ext cx="4078200" cy="11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Columbia University · APAN 5800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Yike Meng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94" name="Google Shape;294;p31"/>
          <p:cNvGrpSpPr/>
          <p:nvPr/>
        </p:nvGrpSpPr>
        <p:grpSpPr>
          <a:xfrm>
            <a:off x="4962580" y="1147927"/>
            <a:ext cx="4078127" cy="2609228"/>
            <a:chOff x="4774930" y="1147927"/>
            <a:chExt cx="4078127" cy="2609228"/>
          </a:xfrm>
        </p:grpSpPr>
        <p:grpSp>
          <p:nvGrpSpPr>
            <p:cNvPr id="295" name="Google Shape;295;p31"/>
            <p:cNvGrpSpPr/>
            <p:nvPr/>
          </p:nvGrpSpPr>
          <p:grpSpPr>
            <a:xfrm flipH="1">
              <a:off x="4774930" y="2423427"/>
              <a:ext cx="3721114" cy="1333728"/>
              <a:chOff x="5443311" y="2503600"/>
              <a:chExt cx="3432129" cy="1192106"/>
            </a:xfrm>
          </p:grpSpPr>
          <p:sp>
            <p:nvSpPr>
              <p:cNvPr id="296" name="Google Shape;296;p31"/>
              <p:cNvSpPr/>
              <p:nvPr/>
            </p:nvSpPr>
            <p:spPr>
              <a:xfrm>
                <a:off x="6650156" y="3167608"/>
                <a:ext cx="523052" cy="528098"/>
              </a:xfrm>
              <a:custGeom>
                <a:rect b="b" l="l" r="r" t="t"/>
                <a:pathLst>
                  <a:path extrusionOk="0" h="33172" w="32855">
                    <a:moveTo>
                      <a:pt x="12830" y="0"/>
                    </a:moveTo>
                    <a:cubicBezTo>
                      <a:pt x="5731" y="0"/>
                      <a:pt x="1" y="7418"/>
                      <a:pt x="1" y="16586"/>
                    </a:cubicBezTo>
                    <a:cubicBezTo>
                      <a:pt x="1" y="25754"/>
                      <a:pt x="5731" y="33172"/>
                      <a:pt x="12830" y="33172"/>
                    </a:cubicBezTo>
                    <a:lnTo>
                      <a:pt x="20025" y="33172"/>
                    </a:lnTo>
                    <a:cubicBezTo>
                      <a:pt x="27124" y="33172"/>
                      <a:pt x="32855" y="25754"/>
                      <a:pt x="32855" y="16586"/>
                    </a:cubicBezTo>
                    <a:cubicBezTo>
                      <a:pt x="32855" y="7418"/>
                      <a:pt x="27124" y="0"/>
                      <a:pt x="200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31"/>
              <p:cNvSpPr/>
              <p:nvPr/>
            </p:nvSpPr>
            <p:spPr>
              <a:xfrm>
                <a:off x="8082074" y="3167608"/>
                <a:ext cx="522542" cy="528098"/>
              </a:xfrm>
              <a:custGeom>
                <a:rect b="b" l="l" r="r" t="t"/>
                <a:pathLst>
                  <a:path extrusionOk="0" h="33172" w="32823">
                    <a:moveTo>
                      <a:pt x="12798" y="0"/>
                    </a:moveTo>
                    <a:cubicBezTo>
                      <a:pt x="5731" y="0"/>
                      <a:pt x="1" y="7418"/>
                      <a:pt x="1" y="16586"/>
                    </a:cubicBezTo>
                    <a:cubicBezTo>
                      <a:pt x="1" y="25754"/>
                      <a:pt x="5731" y="33172"/>
                      <a:pt x="12798" y="33172"/>
                    </a:cubicBezTo>
                    <a:lnTo>
                      <a:pt x="20025" y="33172"/>
                    </a:lnTo>
                    <a:cubicBezTo>
                      <a:pt x="27092" y="33172"/>
                      <a:pt x="32822" y="25754"/>
                      <a:pt x="32822" y="16586"/>
                    </a:cubicBezTo>
                    <a:cubicBezTo>
                      <a:pt x="32822" y="7418"/>
                      <a:pt x="27092" y="0"/>
                      <a:pt x="200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31"/>
              <p:cNvSpPr/>
              <p:nvPr/>
            </p:nvSpPr>
            <p:spPr>
              <a:xfrm>
                <a:off x="7009035" y="3103729"/>
                <a:ext cx="846387" cy="378100"/>
              </a:xfrm>
              <a:custGeom>
                <a:rect b="b" l="l" r="r" t="t"/>
                <a:pathLst>
                  <a:path extrusionOk="0" h="23750" w="53165">
                    <a:moveTo>
                      <a:pt x="0" y="1"/>
                    </a:moveTo>
                    <a:lnTo>
                      <a:pt x="0" y="23750"/>
                    </a:lnTo>
                    <a:lnTo>
                      <a:pt x="53164" y="23750"/>
                    </a:lnTo>
                    <a:lnTo>
                      <a:pt x="5316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31"/>
              <p:cNvSpPr/>
              <p:nvPr/>
            </p:nvSpPr>
            <p:spPr>
              <a:xfrm>
                <a:off x="7272606" y="3179263"/>
                <a:ext cx="398366" cy="515951"/>
              </a:xfrm>
              <a:custGeom>
                <a:rect b="b" l="l" r="r" t="t"/>
                <a:pathLst>
                  <a:path extrusionOk="0" h="32409" w="25023">
                    <a:moveTo>
                      <a:pt x="12511" y="0"/>
                    </a:moveTo>
                    <a:cubicBezTo>
                      <a:pt x="5603" y="0"/>
                      <a:pt x="0" y="7259"/>
                      <a:pt x="0" y="16204"/>
                    </a:cubicBezTo>
                    <a:cubicBezTo>
                      <a:pt x="0" y="25150"/>
                      <a:pt x="5603" y="32408"/>
                      <a:pt x="12511" y="32408"/>
                    </a:cubicBezTo>
                    <a:cubicBezTo>
                      <a:pt x="19419" y="32408"/>
                      <a:pt x="25022" y="25150"/>
                      <a:pt x="25022" y="16204"/>
                    </a:cubicBezTo>
                    <a:cubicBezTo>
                      <a:pt x="25022" y="7259"/>
                      <a:pt x="19419" y="0"/>
                      <a:pt x="125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31"/>
              <p:cNvSpPr/>
              <p:nvPr/>
            </p:nvSpPr>
            <p:spPr>
              <a:xfrm>
                <a:off x="7359778" y="3179263"/>
                <a:ext cx="226558" cy="515951"/>
              </a:xfrm>
              <a:custGeom>
                <a:rect b="b" l="l" r="r" t="t"/>
                <a:pathLst>
                  <a:path extrusionOk="0" h="32409" w="14231">
                    <a:moveTo>
                      <a:pt x="1" y="0"/>
                    </a:moveTo>
                    <a:lnTo>
                      <a:pt x="1" y="32408"/>
                    </a:lnTo>
                    <a:lnTo>
                      <a:pt x="7036" y="32408"/>
                    </a:lnTo>
                    <a:lnTo>
                      <a:pt x="14231" y="25213"/>
                    </a:lnTo>
                    <a:lnTo>
                      <a:pt x="70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31"/>
              <p:cNvSpPr/>
              <p:nvPr/>
            </p:nvSpPr>
            <p:spPr>
              <a:xfrm>
                <a:off x="7160070" y="3179263"/>
                <a:ext cx="398876" cy="515951"/>
              </a:xfrm>
              <a:custGeom>
                <a:rect b="b" l="l" r="r" t="t"/>
                <a:pathLst>
                  <a:path extrusionOk="0" h="32409" w="25055">
                    <a:moveTo>
                      <a:pt x="12544" y="0"/>
                    </a:moveTo>
                    <a:cubicBezTo>
                      <a:pt x="5636" y="0"/>
                      <a:pt x="1" y="7259"/>
                      <a:pt x="1" y="16204"/>
                    </a:cubicBezTo>
                    <a:cubicBezTo>
                      <a:pt x="1" y="25150"/>
                      <a:pt x="5636" y="32408"/>
                      <a:pt x="12544" y="32408"/>
                    </a:cubicBezTo>
                    <a:cubicBezTo>
                      <a:pt x="19452" y="32408"/>
                      <a:pt x="25055" y="25150"/>
                      <a:pt x="25055" y="16204"/>
                    </a:cubicBezTo>
                    <a:cubicBezTo>
                      <a:pt x="25055" y="7259"/>
                      <a:pt x="19452" y="0"/>
                      <a:pt x="12544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31"/>
              <p:cNvSpPr/>
              <p:nvPr/>
            </p:nvSpPr>
            <p:spPr>
              <a:xfrm>
                <a:off x="7249790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7" y="1"/>
                      <a:pt x="1" y="3662"/>
                      <a:pt x="1" y="8182"/>
                    </a:cubicBezTo>
                    <a:cubicBezTo>
                      <a:pt x="1" y="12703"/>
                      <a:pt x="2707" y="16395"/>
                      <a:pt x="6049" y="16395"/>
                    </a:cubicBezTo>
                    <a:cubicBezTo>
                      <a:pt x="9360" y="16395"/>
                      <a:pt x="12098" y="12703"/>
                      <a:pt x="12098" y="8182"/>
                    </a:cubicBezTo>
                    <a:cubicBezTo>
                      <a:pt x="12098" y="3662"/>
                      <a:pt x="9360" y="1"/>
                      <a:pt x="6049" y="1"/>
                    </a:cubicBezTo>
                    <a:close/>
                  </a:path>
                </a:pathLst>
              </a:custGeom>
              <a:solidFill>
                <a:srgbClr val="B8B8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31"/>
              <p:cNvSpPr/>
              <p:nvPr/>
            </p:nvSpPr>
            <p:spPr>
              <a:xfrm>
                <a:off x="7294403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6" y="1"/>
                      <a:pt x="0" y="3662"/>
                      <a:pt x="0" y="8182"/>
                    </a:cubicBezTo>
                    <a:cubicBezTo>
                      <a:pt x="0" y="12703"/>
                      <a:pt x="2706" y="16395"/>
                      <a:pt x="6049" y="16395"/>
                    </a:cubicBezTo>
                    <a:cubicBezTo>
                      <a:pt x="9391" y="16395"/>
                      <a:pt x="12097" y="12703"/>
                      <a:pt x="12097" y="8182"/>
                    </a:cubicBezTo>
                    <a:cubicBezTo>
                      <a:pt x="12097" y="3662"/>
                      <a:pt x="9391" y="1"/>
                      <a:pt x="60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31"/>
              <p:cNvSpPr/>
              <p:nvPr/>
            </p:nvSpPr>
            <p:spPr>
              <a:xfrm>
                <a:off x="5577627" y="3103729"/>
                <a:ext cx="845877" cy="378100"/>
              </a:xfrm>
              <a:custGeom>
                <a:rect b="b" l="l" r="r" t="t"/>
                <a:pathLst>
                  <a:path extrusionOk="0" h="23750" w="53133">
                    <a:moveTo>
                      <a:pt x="0" y="1"/>
                    </a:moveTo>
                    <a:lnTo>
                      <a:pt x="0" y="23750"/>
                    </a:lnTo>
                    <a:lnTo>
                      <a:pt x="53133" y="23750"/>
                    </a:lnTo>
                    <a:lnTo>
                      <a:pt x="5313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31"/>
              <p:cNvSpPr/>
              <p:nvPr/>
            </p:nvSpPr>
            <p:spPr>
              <a:xfrm>
                <a:off x="5840689" y="3179263"/>
                <a:ext cx="398876" cy="515951"/>
              </a:xfrm>
              <a:custGeom>
                <a:rect b="b" l="l" r="r" t="t"/>
                <a:pathLst>
                  <a:path extrusionOk="0" h="32409" w="25055">
                    <a:moveTo>
                      <a:pt x="12512" y="0"/>
                    </a:moveTo>
                    <a:cubicBezTo>
                      <a:pt x="5604" y="0"/>
                      <a:pt x="1" y="7259"/>
                      <a:pt x="1" y="16204"/>
                    </a:cubicBezTo>
                    <a:cubicBezTo>
                      <a:pt x="1" y="25150"/>
                      <a:pt x="5604" y="32408"/>
                      <a:pt x="12512" y="32408"/>
                    </a:cubicBezTo>
                    <a:cubicBezTo>
                      <a:pt x="19452" y="32408"/>
                      <a:pt x="25055" y="25150"/>
                      <a:pt x="25055" y="16204"/>
                    </a:cubicBezTo>
                    <a:cubicBezTo>
                      <a:pt x="25055" y="7259"/>
                      <a:pt x="19452" y="0"/>
                      <a:pt x="125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31"/>
              <p:cNvSpPr/>
              <p:nvPr/>
            </p:nvSpPr>
            <p:spPr>
              <a:xfrm>
                <a:off x="5927877" y="3179263"/>
                <a:ext cx="227067" cy="515951"/>
              </a:xfrm>
              <a:custGeom>
                <a:rect b="b" l="l" r="r" t="t"/>
                <a:pathLst>
                  <a:path extrusionOk="0" h="32409" w="14263">
                    <a:moveTo>
                      <a:pt x="0" y="0"/>
                    </a:moveTo>
                    <a:lnTo>
                      <a:pt x="0" y="32408"/>
                    </a:lnTo>
                    <a:lnTo>
                      <a:pt x="7036" y="32408"/>
                    </a:lnTo>
                    <a:lnTo>
                      <a:pt x="14262" y="25213"/>
                    </a:lnTo>
                    <a:lnTo>
                      <a:pt x="70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31"/>
              <p:cNvSpPr/>
              <p:nvPr/>
            </p:nvSpPr>
            <p:spPr>
              <a:xfrm>
                <a:off x="5728678" y="3179263"/>
                <a:ext cx="398366" cy="515951"/>
              </a:xfrm>
              <a:custGeom>
                <a:rect b="b" l="l" r="r" t="t"/>
                <a:pathLst>
                  <a:path extrusionOk="0" h="32409" w="25023">
                    <a:moveTo>
                      <a:pt x="12511" y="0"/>
                    </a:moveTo>
                    <a:cubicBezTo>
                      <a:pt x="5603" y="0"/>
                      <a:pt x="0" y="7259"/>
                      <a:pt x="0" y="16204"/>
                    </a:cubicBezTo>
                    <a:cubicBezTo>
                      <a:pt x="0" y="25150"/>
                      <a:pt x="5603" y="32408"/>
                      <a:pt x="12511" y="32408"/>
                    </a:cubicBezTo>
                    <a:cubicBezTo>
                      <a:pt x="19419" y="32408"/>
                      <a:pt x="25022" y="25150"/>
                      <a:pt x="25022" y="16204"/>
                    </a:cubicBezTo>
                    <a:cubicBezTo>
                      <a:pt x="25022" y="7259"/>
                      <a:pt x="19419" y="0"/>
                      <a:pt x="12511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31"/>
              <p:cNvSpPr/>
              <p:nvPr/>
            </p:nvSpPr>
            <p:spPr>
              <a:xfrm>
                <a:off x="5816113" y="3316541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6" y="1"/>
                      <a:pt x="0" y="3662"/>
                      <a:pt x="0" y="8182"/>
                    </a:cubicBezTo>
                    <a:cubicBezTo>
                      <a:pt x="0" y="12703"/>
                      <a:pt x="2706" y="16395"/>
                      <a:pt x="6049" y="16395"/>
                    </a:cubicBezTo>
                    <a:cubicBezTo>
                      <a:pt x="9391" y="16395"/>
                      <a:pt x="12097" y="12703"/>
                      <a:pt x="12097" y="8182"/>
                    </a:cubicBezTo>
                    <a:cubicBezTo>
                      <a:pt x="12097" y="3662"/>
                      <a:pt x="9391" y="1"/>
                      <a:pt x="6049" y="1"/>
                    </a:cubicBezTo>
                    <a:close/>
                  </a:path>
                </a:pathLst>
              </a:custGeom>
              <a:solidFill>
                <a:srgbClr val="B8B8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31"/>
              <p:cNvSpPr/>
              <p:nvPr/>
            </p:nvSpPr>
            <p:spPr>
              <a:xfrm>
                <a:off x="5862486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38" y="1"/>
                      <a:pt x="1" y="3662"/>
                      <a:pt x="1" y="8182"/>
                    </a:cubicBezTo>
                    <a:cubicBezTo>
                      <a:pt x="1" y="12703"/>
                      <a:pt x="2738" y="16395"/>
                      <a:pt x="6049" y="16395"/>
                    </a:cubicBezTo>
                    <a:cubicBezTo>
                      <a:pt x="9392" y="16395"/>
                      <a:pt x="12098" y="12703"/>
                      <a:pt x="12098" y="8182"/>
                    </a:cubicBezTo>
                    <a:cubicBezTo>
                      <a:pt x="12098" y="3662"/>
                      <a:pt x="9392" y="1"/>
                      <a:pt x="60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31"/>
              <p:cNvSpPr/>
              <p:nvPr/>
            </p:nvSpPr>
            <p:spPr>
              <a:xfrm>
                <a:off x="5443311" y="2627186"/>
                <a:ext cx="3432129" cy="855095"/>
              </a:xfrm>
              <a:custGeom>
                <a:rect b="b" l="l" r="r" t="t"/>
                <a:pathLst>
                  <a:path extrusionOk="0" h="53712" w="215586">
                    <a:moveTo>
                      <a:pt x="118190" y="0"/>
                    </a:moveTo>
                    <a:cubicBezTo>
                      <a:pt x="117929" y="0"/>
                      <a:pt x="117668" y="2"/>
                      <a:pt x="117407" y="6"/>
                    </a:cubicBezTo>
                    <a:lnTo>
                      <a:pt x="55998" y="325"/>
                    </a:lnTo>
                    <a:cubicBezTo>
                      <a:pt x="46224" y="325"/>
                      <a:pt x="19515" y="16751"/>
                      <a:pt x="19515" y="16751"/>
                    </a:cubicBezTo>
                    <a:cubicBezTo>
                      <a:pt x="19127" y="16746"/>
                      <a:pt x="18739" y="16743"/>
                      <a:pt x="18351" y="16743"/>
                    </a:cubicBezTo>
                    <a:cubicBezTo>
                      <a:pt x="14511" y="16743"/>
                      <a:pt x="10696" y="17027"/>
                      <a:pt x="6908" y="17547"/>
                    </a:cubicBezTo>
                    <a:cubicBezTo>
                      <a:pt x="2929" y="18120"/>
                      <a:pt x="0" y="21527"/>
                      <a:pt x="0" y="25538"/>
                    </a:cubicBezTo>
                    <a:lnTo>
                      <a:pt x="0" y="53680"/>
                    </a:lnTo>
                    <a:lnTo>
                      <a:pt x="0" y="53712"/>
                    </a:lnTo>
                    <a:lnTo>
                      <a:pt x="16077" y="53712"/>
                    </a:lnTo>
                    <a:cubicBezTo>
                      <a:pt x="16077" y="53712"/>
                      <a:pt x="14867" y="34547"/>
                      <a:pt x="30466" y="33815"/>
                    </a:cubicBezTo>
                    <a:cubicBezTo>
                      <a:pt x="30738" y="33802"/>
                      <a:pt x="31005" y="33796"/>
                      <a:pt x="31268" y="33796"/>
                    </a:cubicBezTo>
                    <a:cubicBezTo>
                      <a:pt x="46057" y="33796"/>
                      <a:pt x="45842" y="53712"/>
                      <a:pt x="45842" y="53712"/>
                    </a:cubicBezTo>
                    <a:lnTo>
                      <a:pt x="106138" y="53712"/>
                    </a:lnTo>
                    <a:cubicBezTo>
                      <a:pt x="105437" y="46740"/>
                      <a:pt x="108525" y="32860"/>
                      <a:pt x="120049" y="32860"/>
                    </a:cubicBezTo>
                    <a:cubicBezTo>
                      <a:pt x="131606" y="32860"/>
                      <a:pt x="135171" y="44193"/>
                      <a:pt x="135171" y="44193"/>
                    </a:cubicBezTo>
                    <a:lnTo>
                      <a:pt x="215045" y="44193"/>
                    </a:lnTo>
                    <a:cubicBezTo>
                      <a:pt x="215045" y="44193"/>
                      <a:pt x="215586" y="38813"/>
                      <a:pt x="213962" y="33910"/>
                    </a:cubicBezTo>
                    <a:cubicBezTo>
                      <a:pt x="212339" y="29008"/>
                      <a:pt x="204794" y="26970"/>
                      <a:pt x="204794" y="26970"/>
                    </a:cubicBezTo>
                    <a:lnTo>
                      <a:pt x="168438" y="19012"/>
                    </a:lnTo>
                    <a:lnTo>
                      <a:pt x="141092" y="5418"/>
                    </a:lnTo>
                    <a:cubicBezTo>
                      <a:pt x="133972" y="1874"/>
                      <a:pt x="126136" y="0"/>
                      <a:pt x="118190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31"/>
              <p:cNvSpPr/>
              <p:nvPr/>
            </p:nvSpPr>
            <p:spPr>
              <a:xfrm>
                <a:off x="6501653" y="2503600"/>
                <a:ext cx="494157" cy="128745"/>
              </a:xfrm>
              <a:custGeom>
                <a:rect b="b" l="l" r="r" t="t"/>
                <a:pathLst>
                  <a:path extrusionOk="0" h="8087" w="31040">
                    <a:moveTo>
                      <a:pt x="3630" y="1"/>
                    </a:moveTo>
                    <a:cubicBezTo>
                      <a:pt x="1624" y="1"/>
                      <a:pt x="0" y="1592"/>
                      <a:pt x="32" y="3598"/>
                    </a:cubicBezTo>
                    <a:lnTo>
                      <a:pt x="32" y="8087"/>
                    </a:lnTo>
                    <a:lnTo>
                      <a:pt x="31039" y="8087"/>
                    </a:lnTo>
                    <a:lnTo>
                      <a:pt x="31039" y="3566"/>
                    </a:lnTo>
                    <a:cubicBezTo>
                      <a:pt x="31039" y="1592"/>
                      <a:pt x="29416" y="1"/>
                      <a:pt x="274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31"/>
              <p:cNvSpPr/>
              <p:nvPr/>
            </p:nvSpPr>
            <p:spPr>
              <a:xfrm>
                <a:off x="6575658" y="2503600"/>
                <a:ext cx="493647" cy="128745"/>
              </a:xfrm>
              <a:custGeom>
                <a:rect b="b" l="l" r="r" t="t"/>
                <a:pathLst>
                  <a:path extrusionOk="0" h="8087" w="31008">
                    <a:moveTo>
                      <a:pt x="3598" y="1"/>
                    </a:moveTo>
                    <a:cubicBezTo>
                      <a:pt x="1624" y="1"/>
                      <a:pt x="0" y="1592"/>
                      <a:pt x="0" y="3598"/>
                    </a:cubicBezTo>
                    <a:lnTo>
                      <a:pt x="0" y="8087"/>
                    </a:lnTo>
                    <a:lnTo>
                      <a:pt x="31007" y="8087"/>
                    </a:lnTo>
                    <a:lnTo>
                      <a:pt x="31007" y="3566"/>
                    </a:lnTo>
                    <a:cubicBezTo>
                      <a:pt x="31007" y="1592"/>
                      <a:pt x="29416" y="1"/>
                      <a:pt x="27410" y="1"/>
                    </a:cubicBez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31"/>
              <p:cNvSpPr/>
              <p:nvPr/>
            </p:nvSpPr>
            <p:spPr>
              <a:xfrm>
                <a:off x="6688178" y="2532498"/>
                <a:ext cx="60321" cy="70971"/>
              </a:xfrm>
              <a:custGeom>
                <a:rect b="b" l="l" r="r" t="t"/>
                <a:pathLst>
                  <a:path extrusionOk="0" h="4458" w="3789">
                    <a:moveTo>
                      <a:pt x="1" y="0"/>
                    </a:moveTo>
                    <a:lnTo>
                      <a:pt x="1" y="701"/>
                    </a:lnTo>
                    <a:lnTo>
                      <a:pt x="1465" y="701"/>
                    </a:lnTo>
                    <a:lnTo>
                      <a:pt x="1497" y="4457"/>
                    </a:lnTo>
                    <a:lnTo>
                      <a:pt x="2325" y="4457"/>
                    </a:lnTo>
                    <a:lnTo>
                      <a:pt x="2325" y="701"/>
                    </a:lnTo>
                    <a:lnTo>
                      <a:pt x="3789" y="701"/>
                    </a:lnTo>
                    <a:lnTo>
                      <a:pt x="37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31"/>
              <p:cNvSpPr/>
              <p:nvPr/>
            </p:nvSpPr>
            <p:spPr>
              <a:xfrm>
                <a:off x="6752041" y="2532498"/>
                <a:ext cx="77053" cy="70971"/>
              </a:xfrm>
              <a:custGeom>
                <a:rect b="b" l="l" r="r" t="t"/>
                <a:pathLst>
                  <a:path extrusionOk="0" h="4458" w="4840">
                    <a:moveTo>
                      <a:pt x="2420" y="828"/>
                    </a:moveTo>
                    <a:lnTo>
                      <a:pt x="3248" y="2770"/>
                    </a:lnTo>
                    <a:lnTo>
                      <a:pt x="1593" y="2770"/>
                    </a:lnTo>
                    <a:lnTo>
                      <a:pt x="2420" y="828"/>
                    </a:lnTo>
                    <a:close/>
                    <a:moveTo>
                      <a:pt x="2006" y="0"/>
                    </a:moveTo>
                    <a:lnTo>
                      <a:pt x="1" y="4457"/>
                    </a:lnTo>
                    <a:lnTo>
                      <a:pt x="860" y="4457"/>
                    </a:lnTo>
                    <a:lnTo>
                      <a:pt x="1306" y="3407"/>
                    </a:lnTo>
                    <a:lnTo>
                      <a:pt x="3534" y="3407"/>
                    </a:lnTo>
                    <a:lnTo>
                      <a:pt x="3980" y="4457"/>
                    </a:lnTo>
                    <a:lnTo>
                      <a:pt x="4840" y="4457"/>
                    </a:lnTo>
                    <a:lnTo>
                      <a:pt x="28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31"/>
              <p:cNvSpPr/>
              <p:nvPr/>
            </p:nvSpPr>
            <p:spPr>
              <a:xfrm>
                <a:off x="6834166" y="2532498"/>
                <a:ext cx="68424" cy="70971"/>
              </a:xfrm>
              <a:custGeom>
                <a:rect b="b" l="l" r="r" t="t"/>
                <a:pathLst>
                  <a:path extrusionOk="0" h="4458" w="4298">
                    <a:moveTo>
                      <a:pt x="96" y="0"/>
                    </a:moveTo>
                    <a:lnTo>
                      <a:pt x="1655" y="2165"/>
                    </a:lnTo>
                    <a:lnTo>
                      <a:pt x="0" y="4457"/>
                    </a:lnTo>
                    <a:lnTo>
                      <a:pt x="923" y="4457"/>
                    </a:lnTo>
                    <a:lnTo>
                      <a:pt x="2133" y="2770"/>
                    </a:lnTo>
                    <a:lnTo>
                      <a:pt x="3311" y="4457"/>
                    </a:lnTo>
                    <a:lnTo>
                      <a:pt x="4298" y="4457"/>
                    </a:lnTo>
                    <a:lnTo>
                      <a:pt x="2610" y="2133"/>
                    </a:lnTo>
                    <a:lnTo>
                      <a:pt x="4170" y="0"/>
                    </a:lnTo>
                    <a:lnTo>
                      <a:pt x="3247" y="0"/>
                    </a:lnTo>
                    <a:lnTo>
                      <a:pt x="2133" y="1592"/>
                    </a:lnTo>
                    <a:lnTo>
                      <a:pt x="98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31"/>
              <p:cNvSpPr/>
              <p:nvPr/>
            </p:nvSpPr>
            <p:spPr>
              <a:xfrm>
                <a:off x="6917787" y="2532498"/>
                <a:ext cx="13198" cy="70971"/>
              </a:xfrm>
              <a:custGeom>
                <a:rect b="b" l="l" r="r" t="t"/>
                <a:pathLst>
                  <a:path extrusionOk="0" h="4458" w="829">
                    <a:moveTo>
                      <a:pt x="1" y="0"/>
                    </a:moveTo>
                    <a:lnTo>
                      <a:pt x="1" y="4457"/>
                    </a:lnTo>
                    <a:lnTo>
                      <a:pt x="828" y="4457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31"/>
              <p:cNvSpPr/>
              <p:nvPr/>
            </p:nvSpPr>
            <p:spPr>
              <a:xfrm>
                <a:off x="5860464" y="2666306"/>
                <a:ext cx="1284776" cy="278759"/>
              </a:xfrm>
              <a:custGeom>
                <a:rect b="b" l="l" r="r" t="t"/>
                <a:pathLst>
                  <a:path extrusionOk="0" h="17510" w="80702">
                    <a:moveTo>
                      <a:pt x="34223" y="1"/>
                    </a:moveTo>
                    <a:cubicBezTo>
                      <a:pt x="30498" y="1"/>
                      <a:pt x="26837" y="1051"/>
                      <a:pt x="23685" y="3057"/>
                    </a:cubicBezTo>
                    <a:lnTo>
                      <a:pt x="637" y="16109"/>
                    </a:lnTo>
                    <a:cubicBezTo>
                      <a:pt x="0" y="16491"/>
                      <a:pt x="255" y="17478"/>
                      <a:pt x="1019" y="17510"/>
                    </a:cubicBezTo>
                    <a:lnTo>
                      <a:pt x="79174" y="17510"/>
                    </a:lnTo>
                    <a:cubicBezTo>
                      <a:pt x="80288" y="17478"/>
                      <a:pt x="80702" y="15982"/>
                      <a:pt x="79715" y="15409"/>
                    </a:cubicBezTo>
                    <a:lnTo>
                      <a:pt x="55457" y="1752"/>
                    </a:lnTo>
                    <a:cubicBezTo>
                      <a:pt x="53387" y="605"/>
                      <a:pt x="51032" y="1"/>
                      <a:pt x="4867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31"/>
              <p:cNvSpPr/>
              <p:nvPr/>
            </p:nvSpPr>
            <p:spPr>
              <a:xfrm>
                <a:off x="5868058" y="2931900"/>
                <a:ext cx="1262488" cy="474400"/>
              </a:xfrm>
              <a:custGeom>
                <a:rect b="b" l="l" r="r" t="t"/>
                <a:pathLst>
                  <a:path extrusionOk="0" fill="none" h="29799" w="79302">
                    <a:moveTo>
                      <a:pt x="1" y="1"/>
                    </a:moveTo>
                    <a:lnTo>
                      <a:pt x="1" y="9806"/>
                    </a:lnTo>
                    <a:cubicBezTo>
                      <a:pt x="1" y="9806"/>
                      <a:pt x="21171" y="5540"/>
                      <a:pt x="23336" y="29798"/>
                    </a:cubicBezTo>
                    <a:lnTo>
                      <a:pt x="71661" y="29798"/>
                    </a:lnTo>
                    <a:cubicBezTo>
                      <a:pt x="71661" y="29798"/>
                      <a:pt x="70388" y="6081"/>
                      <a:pt x="79301" y="288"/>
                    </a:cubicBez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31"/>
              <p:cNvSpPr/>
              <p:nvPr/>
            </p:nvSpPr>
            <p:spPr>
              <a:xfrm>
                <a:off x="6415994" y="2945083"/>
                <a:ext cx="80587" cy="461218"/>
              </a:xfrm>
              <a:custGeom>
                <a:rect b="b" l="l" r="r" t="t"/>
                <a:pathLst>
                  <a:path extrusionOk="0" fill="none" h="28971" w="5062">
                    <a:moveTo>
                      <a:pt x="5062" y="1"/>
                    </a:moveTo>
                    <a:cubicBezTo>
                      <a:pt x="5062" y="1"/>
                      <a:pt x="0" y="2229"/>
                      <a:pt x="2452" y="28970"/>
                    </a:cubicBez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31"/>
              <p:cNvSpPr/>
              <p:nvPr/>
            </p:nvSpPr>
            <p:spPr>
              <a:xfrm>
                <a:off x="6527494" y="2982595"/>
                <a:ext cx="107969" cy="38033"/>
              </a:xfrm>
              <a:custGeom>
                <a:rect b="b" l="l" r="r" t="t"/>
                <a:pathLst>
                  <a:path extrusionOk="0" h="2389" w="6782">
                    <a:moveTo>
                      <a:pt x="956" y="0"/>
                    </a:moveTo>
                    <a:cubicBezTo>
                      <a:pt x="447" y="0"/>
                      <a:pt x="1" y="446"/>
                      <a:pt x="1" y="956"/>
                    </a:cubicBezTo>
                    <a:lnTo>
                      <a:pt x="1" y="1401"/>
                    </a:lnTo>
                    <a:cubicBezTo>
                      <a:pt x="1" y="1942"/>
                      <a:pt x="447" y="2388"/>
                      <a:pt x="956" y="2388"/>
                    </a:cubicBezTo>
                    <a:lnTo>
                      <a:pt x="5827" y="2388"/>
                    </a:lnTo>
                    <a:cubicBezTo>
                      <a:pt x="6368" y="2388"/>
                      <a:pt x="6782" y="1942"/>
                      <a:pt x="6782" y="1401"/>
                    </a:cubicBezTo>
                    <a:lnTo>
                      <a:pt x="6782" y="956"/>
                    </a:lnTo>
                    <a:cubicBezTo>
                      <a:pt x="6782" y="446"/>
                      <a:pt x="6368" y="0"/>
                      <a:pt x="58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31"/>
              <p:cNvSpPr/>
              <p:nvPr/>
            </p:nvSpPr>
            <p:spPr>
              <a:xfrm>
                <a:off x="5855908" y="3043995"/>
                <a:ext cx="107954" cy="38033"/>
              </a:xfrm>
              <a:custGeom>
                <a:rect b="b" l="l" r="r" t="t"/>
                <a:pathLst>
                  <a:path extrusionOk="0" h="2389" w="6781">
                    <a:moveTo>
                      <a:pt x="955" y="0"/>
                    </a:moveTo>
                    <a:cubicBezTo>
                      <a:pt x="414" y="0"/>
                      <a:pt x="0" y="446"/>
                      <a:pt x="0" y="956"/>
                    </a:cubicBezTo>
                    <a:lnTo>
                      <a:pt x="0" y="1401"/>
                    </a:lnTo>
                    <a:cubicBezTo>
                      <a:pt x="0" y="1942"/>
                      <a:pt x="414" y="2388"/>
                      <a:pt x="955" y="2388"/>
                    </a:cubicBezTo>
                    <a:lnTo>
                      <a:pt x="5826" y="2388"/>
                    </a:lnTo>
                    <a:cubicBezTo>
                      <a:pt x="6335" y="2388"/>
                      <a:pt x="6781" y="1942"/>
                      <a:pt x="6781" y="1401"/>
                    </a:cubicBezTo>
                    <a:lnTo>
                      <a:pt x="6781" y="956"/>
                    </a:lnTo>
                    <a:cubicBezTo>
                      <a:pt x="6781" y="446"/>
                      <a:pt x="6335" y="0"/>
                      <a:pt x="58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31"/>
              <p:cNvSpPr/>
              <p:nvPr/>
            </p:nvSpPr>
            <p:spPr>
              <a:xfrm>
                <a:off x="6867777" y="2665797"/>
                <a:ext cx="1216192" cy="278759"/>
              </a:xfrm>
              <a:custGeom>
                <a:rect b="b" l="l" r="r" t="t"/>
                <a:pathLst>
                  <a:path extrusionOk="0" h="17510" w="76394">
                    <a:moveTo>
                      <a:pt x="2057" y="0"/>
                    </a:moveTo>
                    <a:cubicBezTo>
                      <a:pt x="523" y="0"/>
                      <a:pt x="1" y="2107"/>
                      <a:pt x="1423" y="2802"/>
                    </a:cubicBezTo>
                    <a:lnTo>
                      <a:pt x="29183" y="17510"/>
                    </a:lnTo>
                    <a:lnTo>
                      <a:pt x="76394" y="17510"/>
                    </a:lnTo>
                    <a:lnTo>
                      <a:pt x="44623" y="2006"/>
                    </a:lnTo>
                    <a:cubicBezTo>
                      <a:pt x="41980" y="701"/>
                      <a:pt x="39052" y="1"/>
                      <a:pt x="36091" y="1"/>
                    </a:cubicBezTo>
                    <a:lnTo>
                      <a:pt x="2091" y="1"/>
                    </a:lnTo>
                    <a:cubicBezTo>
                      <a:pt x="2080" y="1"/>
                      <a:pt x="2068" y="0"/>
                      <a:pt x="20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31"/>
              <p:cNvSpPr/>
              <p:nvPr/>
            </p:nvSpPr>
            <p:spPr>
              <a:xfrm>
                <a:off x="7442397" y="2982595"/>
                <a:ext cx="695370" cy="16"/>
              </a:xfrm>
              <a:custGeom>
                <a:rect b="b" l="l" r="r" t="t"/>
                <a:pathLst>
                  <a:path extrusionOk="0" fill="none" h="1" w="43679">
                    <a:moveTo>
                      <a:pt x="1" y="0"/>
                    </a:moveTo>
                    <a:lnTo>
                      <a:pt x="43678" y="0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31"/>
              <p:cNvSpPr/>
              <p:nvPr/>
            </p:nvSpPr>
            <p:spPr>
              <a:xfrm>
                <a:off x="7033364" y="2666306"/>
                <a:ext cx="654296" cy="278759"/>
              </a:xfrm>
              <a:custGeom>
                <a:rect b="b" l="l" r="r" t="t"/>
                <a:pathLst>
                  <a:path extrusionOk="0" h="17510" w="41099">
                    <a:moveTo>
                      <a:pt x="0" y="1"/>
                    </a:moveTo>
                    <a:lnTo>
                      <a:pt x="30816" y="17510"/>
                    </a:lnTo>
                    <a:lnTo>
                      <a:pt x="41099" y="17510"/>
                    </a:lnTo>
                    <a:lnTo>
                      <a:pt x="10315" y="1"/>
                    </a:lnTo>
                    <a:close/>
                  </a:path>
                </a:pathLst>
              </a:custGeom>
              <a:solidFill>
                <a:srgbClr val="5E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31"/>
              <p:cNvSpPr/>
              <p:nvPr/>
            </p:nvSpPr>
            <p:spPr>
              <a:xfrm>
                <a:off x="7339000" y="2666306"/>
                <a:ext cx="544337" cy="278759"/>
              </a:xfrm>
              <a:custGeom>
                <a:rect b="b" l="l" r="r" t="t"/>
                <a:pathLst>
                  <a:path extrusionOk="0" h="17510" w="34192">
                    <a:moveTo>
                      <a:pt x="1" y="1"/>
                    </a:moveTo>
                    <a:lnTo>
                      <a:pt x="30817" y="17510"/>
                    </a:lnTo>
                    <a:lnTo>
                      <a:pt x="34191" y="17510"/>
                    </a:lnTo>
                    <a:lnTo>
                      <a:pt x="3375" y="1"/>
                    </a:lnTo>
                    <a:close/>
                  </a:path>
                </a:pathLst>
              </a:custGeom>
              <a:solidFill>
                <a:srgbClr val="5E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31"/>
              <p:cNvSpPr/>
              <p:nvPr/>
            </p:nvSpPr>
            <p:spPr>
              <a:xfrm>
                <a:off x="7595486" y="3330314"/>
                <a:ext cx="1271085" cy="151542"/>
              </a:xfrm>
              <a:custGeom>
                <a:rect b="b" l="l" r="r" t="t"/>
                <a:pathLst>
                  <a:path extrusionOk="0" h="9519" w="79842">
                    <a:moveTo>
                      <a:pt x="0" y="0"/>
                    </a:moveTo>
                    <a:lnTo>
                      <a:pt x="0" y="5730"/>
                    </a:lnTo>
                    <a:cubicBezTo>
                      <a:pt x="0" y="7831"/>
                      <a:pt x="1687" y="9519"/>
                      <a:pt x="3820" y="9519"/>
                    </a:cubicBezTo>
                    <a:lnTo>
                      <a:pt x="75162" y="9519"/>
                    </a:lnTo>
                    <a:cubicBezTo>
                      <a:pt x="77709" y="9519"/>
                      <a:pt x="79778" y="7449"/>
                      <a:pt x="79778" y="4903"/>
                    </a:cubicBezTo>
                    <a:lnTo>
                      <a:pt x="79842" y="0"/>
                    </a:ln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1"/>
              <p:cNvSpPr/>
              <p:nvPr/>
            </p:nvSpPr>
            <p:spPr>
              <a:xfrm>
                <a:off x="8290905" y="3311558"/>
                <a:ext cx="206291" cy="62343"/>
              </a:xfrm>
              <a:custGeom>
                <a:rect b="b" l="l" r="r" t="t"/>
                <a:pathLst>
                  <a:path extrusionOk="0" h="3916" w="12958">
                    <a:moveTo>
                      <a:pt x="0" y="0"/>
                    </a:moveTo>
                    <a:lnTo>
                      <a:pt x="0" y="3916"/>
                    </a:lnTo>
                    <a:lnTo>
                      <a:pt x="12957" y="3916"/>
                    </a:lnTo>
                    <a:lnTo>
                      <a:pt x="129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1"/>
              <p:cNvSpPr/>
              <p:nvPr/>
            </p:nvSpPr>
            <p:spPr>
              <a:xfrm>
                <a:off x="8046600" y="3187367"/>
                <a:ext cx="607682" cy="16"/>
              </a:xfrm>
              <a:custGeom>
                <a:rect b="b" l="l" r="r" t="t"/>
                <a:pathLst>
                  <a:path extrusionOk="0" fill="none" h="1" w="38171">
                    <a:moveTo>
                      <a:pt x="0" y="1"/>
                    </a:moveTo>
                    <a:lnTo>
                      <a:pt x="38170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1"/>
              <p:cNvSpPr/>
              <p:nvPr/>
            </p:nvSpPr>
            <p:spPr>
              <a:xfrm>
                <a:off x="8157098" y="3233493"/>
                <a:ext cx="399879" cy="16"/>
              </a:xfrm>
              <a:custGeom>
                <a:rect b="b" l="l" r="r" t="t"/>
                <a:pathLst>
                  <a:path extrusionOk="0" fill="none" h="1" w="25118">
                    <a:moveTo>
                      <a:pt x="0" y="1"/>
                    </a:moveTo>
                    <a:lnTo>
                      <a:pt x="25118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1"/>
              <p:cNvSpPr/>
              <p:nvPr/>
            </p:nvSpPr>
            <p:spPr>
              <a:xfrm>
                <a:off x="8157098" y="3279619"/>
                <a:ext cx="399879" cy="16"/>
              </a:xfrm>
              <a:custGeom>
                <a:rect b="b" l="l" r="r" t="t"/>
                <a:pathLst>
                  <a:path extrusionOk="0" fill="none" h="1" w="25118">
                    <a:moveTo>
                      <a:pt x="0" y="1"/>
                    </a:moveTo>
                    <a:lnTo>
                      <a:pt x="25118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1"/>
              <p:cNvSpPr/>
              <p:nvPr/>
            </p:nvSpPr>
            <p:spPr>
              <a:xfrm>
                <a:off x="7765786" y="3167608"/>
                <a:ext cx="346674" cy="119113"/>
              </a:xfrm>
              <a:custGeom>
                <a:rect b="b" l="l" r="r" t="t"/>
                <a:pathLst>
                  <a:path extrusionOk="0" h="7482" w="21776">
                    <a:moveTo>
                      <a:pt x="2547" y="0"/>
                    </a:moveTo>
                    <a:cubicBezTo>
                      <a:pt x="1147" y="0"/>
                      <a:pt x="1" y="1146"/>
                      <a:pt x="1" y="2547"/>
                    </a:cubicBezTo>
                    <a:lnTo>
                      <a:pt x="1" y="4935"/>
                    </a:lnTo>
                    <a:cubicBezTo>
                      <a:pt x="1" y="6335"/>
                      <a:pt x="1147" y="7481"/>
                      <a:pt x="2547" y="7481"/>
                    </a:cubicBezTo>
                    <a:lnTo>
                      <a:pt x="19229" y="7481"/>
                    </a:lnTo>
                    <a:cubicBezTo>
                      <a:pt x="20630" y="7481"/>
                      <a:pt x="21776" y="6335"/>
                      <a:pt x="21776" y="4935"/>
                    </a:cubicBezTo>
                    <a:lnTo>
                      <a:pt x="21776" y="2547"/>
                    </a:lnTo>
                    <a:cubicBezTo>
                      <a:pt x="21776" y="1146"/>
                      <a:pt x="20630" y="0"/>
                      <a:pt x="192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1"/>
              <p:cNvSpPr/>
              <p:nvPr/>
            </p:nvSpPr>
            <p:spPr>
              <a:xfrm>
                <a:off x="8608212" y="3167608"/>
                <a:ext cx="261518" cy="119113"/>
              </a:xfrm>
              <a:custGeom>
                <a:rect b="b" l="l" r="r" t="t"/>
                <a:pathLst>
                  <a:path extrusionOk="0" h="7482" w="16427">
                    <a:moveTo>
                      <a:pt x="2547" y="0"/>
                    </a:moveTo>
                    <a:cubicBezTo>
                      <a:pt x="1146" y="0"/>
                      <a:pt x="0" y="1146"/>
                      <a:pt x="0" y="2547"/>
                    </a:cubicBezTo>
                    <a:lnTo>
                      <a:pt x="0" y="4935"/>
                    </a:lnTo>
                    <a:cubicBezTo>
                      <a:pt x="0" y="6335"/>
                      <a:pt x="1146" y="7481"/>
                      <a:pt x="2547" y="7481"/>
                    </a:cubicBezTo>
                    <a:lnTo>
                      <a:pt x="16331" y="7481"/>
                    </a:lnTo>
                    <a:cubicBezTo>
                      <a:pt x="16427" y="2451"/>
                      <a:pt x="15345" y="318"/>
                      <a:pt x="151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31"/>
              <p:cNvSpPr/>
              <p:nvPr/>
            </p:nvSpPr>
            <p:spPr>
              <a:xfrm>
                <a:off x="7765786" y="3246167"/>
                <a:ext cx="346674" cy="16"/>
              </a:xfrm>
              <a:custGeom>
                <a:rect b="b" l="l" r="r" t="t"/>
                <a:pathLst>
                  <a:path extrusionOk="0" fill="none" h="1" w="21776">
                    <a:moveTo>
                      <a:pt x="1" y="1"/>
                    </a:moveTo>
                    <a:lnTo>
                      <a:pt x="21776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31"/>
              <p:cNvSpPr/>
              <p:nvPr/>
            </p:nvSpPr>
            <p:spPr>
              <a:xfrm>
                <a:off x="8608212" y="3246167"/>
                <a:ext cx="258477" cy="16"/>
              </a:xfrm>
              <a:custGeom>
                <a:rect b="b" l="l" r="r" t="t"/>
                <a:pathLst>
                  <a:path extrusionOk="0" fill="none" h="1" w="16236">
                    <a:moveTo>
                      <a:pt x="0" y="1"/>
                    </a:moveTo>
                    <a:lnTo>
                      <a:pt x="16236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5" name="Google Shape;335;p31"/>
            <p:cNvGrpSpPr/>
            <p:nvPr/>
          </p:nvGrpSpPr>
          <p:grpSpPr>
            <a:xfrm flipH="1">
              <a:off x="7233551" y="1147927"/>
              <a:ext cx="1619507" cy="2609219"/>
              <a:chOff x="4881187" y="1425516"/>
              <a:chExt cx="1493734" cy="2332158"/>
            </a:xfrm>
          </p:grpSpPr>
          <p:sp>
            <p:nvSpPr>
              <p:cNvPr id="336" name="Google Shape;336;p31"/>
              <p:cNvSpPr/>
              <p:nvPr/>
            </p:nvSpPr>
            <p:spPr>
              <a:xfrm>
                <a:off x="5300871" y="3391714"/>
                <a:ext cx="328430" cy="151542"/>
              </a:xfrm>
              <a:custGeom>
                <a:rect b="b" l="l" r="r" t="t"/>
                <a:pathLst>
                  <a:path extrusionOk="0" h="9519" w="20630">
                    <a:moveTo>
                      <a:pt x="3821" y="0"/>
                    </a:moveTo>
                    <a:cubicBezTo>
                      <a:pt x="1720" y="0"/>
                      <a:pt x="1" y="1719"/>
                      <a:pt x="1" y="3820"/>
                    </a:cubicBezTo>
                    <a:lnTo>
                      <a:pt x="1" y="5730"/>
                    </a:lnTo>
                    <a:cubicBezTo>
                      <a:pt x="1" y="7831"/>
                      <a:pt x="1720" y="9519"/>
                      <a:pt x="3821" y="9519"/>
                    </a:cubicBezTo>
                    <a:lnTo>
                      <a:pt x="19325" y="9519"/>
                    </a:lnTo>
                    <a:cubicBezTo>
                      <a:pt x="19325" y="9519"/>
                      <a:pt x="19261" y="4361"/>
                      <a:pt x="20630" y="0"/>
                    </a:cubicBez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31"/>
              <p:cNvSpPr/>
              <p:nvPr/>
            </p:nvSpPr>
            <p:spPr>
              <a:xfrm>
                <a:off x="6037863" y="1425516"/>
                <a:ext cx="337058" cy="503327"/>
              </a:xfrm>
              <a:custGeom>
                <a:rect b="b" l="l" r="r" t="t"/>
                <a:pathLst>
                  <a:path extrusionOk="0" h="31616" w="21172">
                    <a:moveTo>
                      <a:pt x="10857" y="0"/>
                    </a:moveTo>
                    <a:cubicBezTo>
                      <a:pt x="9131" y="0"/>
                      <a:pt x="7305" y="425"/>
                      <a:pt x="5476" y="1372"/>
                    </a:cubicBezTo>
                    <a:cubicBezTo>
                      <a:pt x="4076" y="2168"/>
                      <a:pt x="2898" y="3314"/>
                      <a:pt x="2070" y="4715"/>
                    </a:cubicBezTo>
                    <a:cubicBezTo>
                      <a:pt x="1" y="8439"/>
                      <a:pt x="192" y="12100"/>
                      <a:pt x="1656" y="14997"/>
                    </a:cubicBezTo>
                    <a:lnTo>
                      <a:pt x="1752" y="15156"/>
                    </a:lnTo>
                    <a:cubicBezTo>
                      <a:pt x="1784" y="15220"/>
                      <a:pt x="1815" y="15284"/>
                      <a:pt x="1847" y="15347"/>
                    </a:cubicBezTo>
                    <a:lnTo>
                      <a:pt x="10857" y="31615"/>
                    </a:lnTo>
                    <a:lnTo>
                      <a:pt x="19866" y="15316"/>
                    </a:lnTo>
                    <a:cubicBezTo>
                      <a:pt x="19898" y="15252"/>
                      <a:pt x="19929" y="15188"/>
                      <a:pt x="19961" y="15156"/>
                    </a:cubicBezTo>
                    <a:lnTo>
                      <a:pt x="19993" y="15061"/>
                    </a:lnTo>
                    <a:cubicBezTo>
                      <a:pt x="20757" y="13597"/>
                      <a:pt x="21171" y="11973"/>
                      <a:pt x="21171" y="10318"/>
                    </a:cubicBezTo>
                    <a:cubicBezTo>
                      <a:pt x="21171" y="4625"/>
                      <a:pt x="16558" y="0"/>
                      <a:pt x="10857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31"/>
              <p:cNvSpPr/>
              <p:nvPr/>
            </p:nvSpPr>
            <p:spPr>
              <a:xfrm>
                <a:off x="6137725" y="1515268"/>
                <a:ext cx="145461" cy="145477"/>
              </a:xfrm>
              <a:custGeom>
                <a:rect b="b" l="l" r="r" t="t"/>
                <a:pathLst>
                  <a:path extrusionOk="0" h="9138" w="9137">
                    <a:moveTo>
                      <a:pt x="4585" y="1"/>
                    </a:moveTo>
                    <a:cubicBezTo>
                      <a:pt x="2070" y="1"/>
                      <a:pt x="0" y="2038"/>
                      <a:pt x="0" y="4553"/>
                    </a:cubicBezTo>
                    <a:cubicBezTo>
                      <a:pt x="0" y="7100"/>
                      <a:pt x="2070" y="9137"/>
                      <a:pt x="4585" y="9137"/>
                    </a:cubicBezTo>
                    <a:cubicBezTo>
                      <a:pt x="7099" y="9137"/>
                      <a:pt x="9137" y="7100"/>
                      <a:pt x="9137" y="4553"/>
                    </a:cubicBezTo>
                    <a:cubicBezTo>
                      <a:pt x="9137" y="2038"/>
                      <a:pt x="7099" y="1"/>
                      <a:pt x="45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31"/>
              <p:cNvSpPr/>
              <p:nvPr/>
            </p:nvSpPr>
            <p:spPr>
              <a:xfrm>
                <a:off x="5590809" y="3628409"/>
                <a:ext cx="290922" cy="90744"/>
              </a:xfrm>
              <a:custGeom>
                <a:rect b="b" l="l" r="r" t="t"/>
                <a:pathLst>
                  <a:path extrusionOk="0" h="5700" w="18274">
                    <a:moveTo>
                      <a:pt x="1210" y="1"/>
                    </a:moveTo>
                    <a:lnTo>
                      <a:pt x="0" y="5477"/>
                    </a:lnTo>
                    <a:lnTo>
                      <a:pt x="18274" y="5699"/>
                    </a:lnTo>
                    <a:lnTo>
                      <a:pt x="7641" y="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31"/>
              <p:cNvSpPr/>
              <p:nvPr/>
            </p:nvSpPr>
            <p:spPr>
              <a:xfrm>
                <a:off x="5589790" y="3715598"/>
                <a:ext cx="291941" cy="42077"/>
              </a:xfrm>
              <a:custGeom>
                <a:rect b="b" l="l" r="r" t="t"/>
                <a:pathLst>
                  <a:path extrusionOk="0" h="2643" w="18338">
                    <a:moveTo>
                      <a:pt x="64" y="1"/>
                    </a:moveTo>
                    <a:lnTo>
                      <a:pt x="1" y="2420"/>
                    </a:lnTo>
                    <a:lnTo>
                      <a:pt x="18274" y="2643"/>
                    </a:lnTo>
                    <a:lnTo>
                      <a:pt x="18338" y="22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31"/>
              <p:cNvSpPr/>
              <p:nvPr/>
            </p:nvSpPr>
            <p:spPr>
              <a:xfrm>
                <a:off x="5717021" y="3645143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1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31"/>
              <p:cNvSpPr/>
              <p:nvPr/>
            </p:nvSpPr>
            <p:spPr>
              <a:xfrm>
                <a:off x="5610074" y="3483966"/>
                <a:ext cx="113541" cy="144442"/>
              </a:xfrm>
              <a:custGeom>
                <a:rect b="b" l="l" r="r" t="t"/>
                <a:pathLst>
                  <a:path extrusionOk="0" h="9073" w="7132">
                    <a:moveTo>
                      <a:pt x="541" y="0"/>
                    </a:moveTo>
                    <a:lnTo>
                      <a:pt x="0" y="9073"/>
                    </a:lnTo>
                    <a:lnTo>
                      <a:pt x="6558" y="9073"/>
                    </a:lnTo>
                    <a:lnTo>
                      <a:pt x="7131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31"/>
              <p:cNvSpPr/>
              <p:nvPr/>
            </p:nvSpPr>
            <p:spPr>
              <a:xfrm>
                <a:off x="5581685" y="2534589"/>
                <a:ext cx="209842" cy="1047584"/>
              </a:xfrm>
              <a:custGeom>
                <a:rect b="b" l="l" r="r" t="t"/>
                <a:pathLst>
                  <a:path extrusionOk="0" h="65803" w="13181">
                    <a:moveTo>
                      <a:pt x="1592" y="1"/>
                    </a:moveTo>
                    <a:lnTo>
                      <a:pt x="0" y="65803"/>
                    </a:lnTo>
                    <a:lnTo>
                      <a:pt x="9137" y="65803"/>
                    </a:lnTo>
                    <a:lnTo>
                      <a:pt x="13180" y="1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31"/>
              <p:cNvSpPr/>
              <p:nvPr/>
            </p:nvSpPr>
            <p:spPr>
              <a:xfrm>
                <a:off x="5355117" y="3628409"/>
                <a:ext cx="291432" cy="90744"/>
              </a:xfrm>
              <a:custGeom>
                <a:rect b="b" l="l" r="r" t="t"/>
                <a:pathLst>
                  <a:path extrusionOk="0" h="5700" w="18306">
                    <a:moveTo>
                      <a:pt x="1210" y="1"/>
                    </a:moveTo>
                    <a:lnTo>
                      <a:pt x="0" y="5477"/>
                    </a:lnTo>
                    <a:lnTo>
                      <a:pt x="18305" y="5699"/>
                    </a:lnTo>
                    <a:lnTo>
                      <a:pt x="7641" y="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31"/>
              <p:cNvSpPr/>
              <p:nvPr/>
            </p:nvSpPr>
            <p:spPr>
              <a:xfrm>
                <a:off x="5354098" y="3715598"/>
                <a:ext cx="292450" cy="42077"/>
              </a:xfrm>
              <a:custGeom>
                <a:rect b="b" l="l" r="r" t="t"/>
                <a:pathLst>
                  <a:path extrusionOk="0" h="2643" w="18370">
                    <a:moveTo>
                      <a:pt x="64" y="1"/>
                    </a:moveTo>
                    <a:lnTo>
                      <a:pt x="1" y="2420"/>
                    </a:lnTo>
                    <a:lnTo>
                      <a:pt x="18306" y="2643"/>
                    </a:lnTo>
                    <a:lnTo>
                      <a:pt x="18369" y="22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31"/>
              <p:cNvSpPr/>
              <p:nvPr/>
            </p:nvSpPr>
            <p:spPr>
              <a:xfrm>
                <a:off x="5514272" y="3661877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2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31"/>
              <p:cNvSpPr/>
              <p:nvPr/>
            </p:nvSpPr>
            <p:spPr>
              <a:xfrm>
                <a:off x="5481330" y="3645143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1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31"/>
              <p:cNvSpPr/>
              <p:nvPr/>
            </p:nvSpPr>
            <p:spPr>
              <a:xfrm>
                <a:off x="5374367" y="3483966"/>
                <a:ext cx="123682" cy="144442"/>
              </a:xfrm>
              <a:custGeom>
                <a:rect b="b" l="l" r="r" t="t"/>
                <a:pathLst>
                  <a:path extrusionOk="0" h="9073" w="7769">
                    <a:moveTo>
                      <a:pt x="1211" y="0"/>
                    </a:moveTo>
                    <a:lnTo>
                      <a:pt x="1" y="9073"/>
                    </a:lnTo>
                    <a:lnTo>
                      <a:pt x="6559" y="9073"/>
                    </a:lnTo>
                    <a:lnTo>
                      <a:pt x="7769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31"/>
              <p:cNvSpPr/>
              <p:nvPr/>
            </p:nvSpPr>
            <p:spPr>
              <a:xfrm>
                <a:off x="5341424" y="2534589"/>
                <a:ext cx="365937" cy="1047584"/>
              </a:xfrm>
              <a:custGeom>
                <a:rect b="b" l="l" r="r" t="t"/>
                <a:pathLst>
                  <a:path extrusionOk="0" h="65803" w="22986">
                    <a:moveTo>
                      <a:pt x="8946" y="1"/>
                    </a:moveTo>
                    <a:lnTo>
                      <a:pt x="1" y="65803"/>
                    </a:lnTo>
                    <a:lnTo>
                      <a:pt x="9997" y="65803"/>
                    </a:lnTo>
                    <a:lnTo>
                      <a:pt x="22985" y="1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31"/>
              <p:cNvSpPr/>
              <p:nvPr/>
            </p:nvSpPr>
            <p:spPr>
              <a:xfrm>
                <a:off x="5593340" y="2662824"/>
                <a:ext cx="140398" cy="449565"/>
              </a:xfrm>
              <a:custGeom>
                <a:rect b="b" l="l" r="r" t="t"/>
                <a:pathLst>
                  <a:path extrusionOk="0" fill="none" h="28239" w="8819">
                    <a:moveTo>
                      <a:pt x="1" y="28238"/>
                    </a:moveTo>
                    <a:lnTo>
                      <a:pt x="5094" y="2420"/>
                    </a:lnTo>
                    <a:lnTo>
                      <a:pt x="8819" y="1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31"/>
              <p:cNvSpPr/>
              <p:nvPr/>
            </p:nvSpPr>
            <p:spPr>
              <a:xfrm>
                <a:off x="5463083" y="2618227"/>
                <a:ext cx="88706" cy="69952"/>
              </a:xfrm>
              <a:custGeom>
                <a:rect b="b" l="l" r="r" t="t"/>
                <a:pathLst>
                  <a:path extrusionOk="0" fill="none" h="4394" w="5572">
                    <a:moveTo>
                      <a:pt x="0" y="4393"/>
                    </a:moveTo>
                    <a:lnTo>
                      <a:pt x="5571" y="0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1"/>
              <p:cNvSpPr/>
              <p:nvPr/>
            </p:nvSpPr>
            <p:spPr>
              <a:xfrm>
                <a:off x="5701306" y="2115413"/>
                <a:ext cx="298532" cy="326742"/>
              </a:xfrm>
              <a:custGeom>
                <a:rect b="b" l="l" r="r" t="t"/>
                <a:pathLst>
                  <a:path extrusionOk="0" h="20524" w="18752">
                    <a:moveTo>
                      <a:pt x="4410" y="0"/>
                    </a:moveTo>
                    <a:cubicBezTo>
                      <a:pt x="3319" y="0"/>
                      <a:pt x="2229" y="446"/>
                      <a:pt x="1433" y="1337"/>
                    </a:cubicBezTo>
                    <a:cubicBezTo>
                      <a:pt x="0" y="2897"/>
                      <a:pt x="32" y="5317"/>
                      <a:pt x="1529" y="6845"/>
                    </a:cubicBezTo>
                    <a:lnTo>
                      <a:pt x="12448" y="19483"/>
                    </a:lnTo>
                    <a:cubicBezTo>
                      <a:pt x="13144" y="20179"/>
                      <a:pt x="14053" y="20524"/>
                      <a:pt x="14958" y="20524"/>
                    </a:cubicBezTo>
                    <a:cubicBezTo>
                      <a:pt x="15999" y="20524"/>
                      <a:pt x="17034" y="20067"/>
                      <a:pt x="17733" y="19165"/>
                    </a:cubicBezTo>
                    <a:cubicBezTo>
                      <a:pt x="18751" y="17828"/>
                      <a:pt x="18688" y="15949"/>
                      <a:pt x="17573" y="14676"/>
                    </a:cubicBezTo>
                    <a:lnTo>
                      <a:pt x="7386" y="1337"/>
                    </a:lnTo>
                    <a:cubicBezTo>
                      <a:pt x="6590" y="446"/>
                      <a:pt x="5500" y="0"/>
                      <a:pt x="4410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31"/>
              <p:cNvSpPr/>
              <p:nvPr/>
            </p:nvSpPr>
            <p:spPr>
              <a:xfrm>
                <a:off x="5739821" y="2056104"/>
                <a:ext cx="139396" cy="238720"/>
              </a:xfrm>
              <a:custGeom>
                <a:rect b="b" l="l" r="r" t="t"/>
                <a:pathLst>
                  <a:path extrusionOk="0" h="14995" w="8756">
                    <a:moveTo>
                      <a:pt x="1" y="1"/>
                    </a:moveTo>
                    <a:lnTo>
                      <a:pt x="2930" y="14995"/>
                    </a:lnTo>
                    <a:lnTo>
                      <a:pt x="8756" y="7991"/>
                    </a:lnTo>
                    <a:cubicBezTo>
                      <a:pt x="4967" y="63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31"/>
              <p:cNvSpPr/>
              <p:nvPr/>
            </p:nvSpPr>
            <p:spPr>
              <a:xfrm>
                <a:off x="5870094" y="2218810"/>
                <a:ext cx="265577" cy="210335"/>
              </a:xfrm>
              <a:custGeom>
                <a:rect b="b" l="l" r="r" t="t"/>
                <a:pathLst>
                  <a:path extrusionOk="0" h="13212" w="16682">
                    <a:moveTo>
                      <a:pt x="13912" y="1"/>
                    </a:moveTo>
                    <a:lnTo>
                      <a:pt x="0" y="8755"/>
                    </a:lnTo>
                    <a:lnTo>
                      <a:pt x="6590" y="13212"/>
                    </a:lnTo>
                    <a:lnTo>
                      <a:pt x="16682" y="2866"/>
                    </a:lnTo>
                    <a:lnTo>
                      <a:pt x="13912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31"/>
              <p:cNvSpPr/>
              <p:nvPr/>
            </p:nvSpPr>
            <p:spPr>
              <a:xfrm>
                <a:off x="6078416" y="2132131"/>
                <a:ext cx="158643" cy="132375"/>
              </a:xfrm>
              <a:custGeom>
                <a:rect b="b" l="l" r="r" t="t"/>
                <a:pathLst>
                  <a:path extrusionOk="0" h="8315" w="9965">
                    <a:moveTo>
                      <a:pt x="3057" y="1"/>
                    </a:moveTo>
                    <a:lnTo>
                      <a:pt x="446" y="2866"/>
                    </a:lnTo>
                    <a:cubicBezTo>
                      <a:pt x="32" y="3312"/>
                      <a:pt x="1" y="4012"/>
                      <a:pt x="351" y="4489"/>
                    </a:cubicBezTo>
                    <a:lnTo>
                      <a:pt x="1433" y="7514"/>
                    </a:lnTo>
                    <a:cubicBezTo>
                      <a:pt x="1675" y="7756"/>
                      <a:pt x="3097" y="8314"/>
                      <a:pt x="3537" y="8314"/>
                    </a:cubicBezTo>
                    <a:cubicBezTo>
                      <a:pt x="3560" y="8314"/>
                      <a:pt x="3581" y="8313"/>
                      <a:pt x="3598" y="8310"/>
                    </a:cubicBezTo>
                    <a:cubicBezTo>
                      <a:pt x="9965" y="7355"/>
                      <a:pt x="9965" y="2006"/>
                      <a:pt x="9965" y="2006"/>
                    </a:cubicBezTo>
                    <a:lnTo>
                      <a:pt x="3057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31"/>
              <p:cNvSpPr/>
              <p:nvPr/>
            </p:nvSpPr>
            <p:spPr>
              <a:xfrm>
                <a:off x="6117950" y="2088600"/>
                <a:ext cx="68950" cy="81049"/>
              </a:xfrm>
              <a:custGeom>
                <a:rect b="b" l="l" r="r" t="t"/>
                <a:pathLst>
                  <a:path extrusionOk="0" h="5091" w="4331">
                    <a:moveTo>
                      <a:pt x="3275" y="1"/>
                    </a:moveTo>
                    <a:cubicBezTo>
                      <a:pt x="2972" y="1"/>
                      <a:pt x="2676" y="142"/>
                      <a:pt x="2484" y="411"/>
                    </a:cubicBezTo>
                    <a:lnTo>
                      <a:pt x="1" y="3626"/>
                    </a:lnTo>
                    <a:lnTo>
                      <a:pt x="1752" y="5091"/>
                    </a:lnTo>
                    <a:lnTo>
                      <a:pt x="4012" y="1557"/>
                    </a:lnTo>
                    <a:cubicBezTo>
                      <a:pt x="4330" y="1143"/>
                      <a:pt x="4267" y="538"/>
                      <a:pt x="3853" y="188"/>
                    </a:cubicBezTo>
                    <a:cubicBezTo>
                      <a:pt x="3676" y="62"/>
                      <a:pt x="3474" y="1"/>
                      <a:pt x="3275" y="1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31"/>
              <p:cNvSpPr/>
              <p:nvPr/>
            </p:nvSpPr>
            <p:spPr>
              <a:xfrm>
                <a:off x="6165094" y="2135395"/>
                <a:ext cx="73503" cy="76830"/>
              </a:xfrm>
              <a:custGeom>
                <a:rect b="b" l="l" r="r" t="t"/>
                <a:pathLst>
                  <a:path extrusionOk="0" h="4826" w="4617">
                    <a:moveTo>
                      <a:pt x="3652" y="1"/>
                    </a:moveTo>
                    <a:cubicBezTo>
                      <a:pt x="3383" y="1"/>
                      <a:pt x="3119" y="113"/>
                      <a:pt x="2929" y="337"/>
                    </a:cubicBezTo>
                    <a:lnTo>
                      <a:pt x="0" y="3234"/>
                    </a:lnTo>
                    <a:lnTo>
                      <a:pt x="1465" y="4826"/>
                    </a:lnTo>
                    <a:lnTo>
                      <a:pt x="4234" y="1610"/>
                    </a:lnTo>
                    <a:cubicBezTo>
                      <a:pt x="4616" y="1228"/>
                      <a:pt x="4616" y="655"/>
                      <a:pt x="4298" y="241"/>
                    </a:cubicBezTo>
                    <a:cubicBezTo>
                      <a:pt x="4108" y="81"/>
                      <a:pt x="3879" y="1"/>
                      <a:pt x="3652" y="1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31"/>
              <p:cNvSpPr/>
              <p:nvPr/>
            </p:nvSpPr>
            <p:spPr>
              <a:xfrm>
                <a:off x="6147358" y="2106592"/>
                <a:ext cx="71974" cy="75731"/>
              </a:xfrm>
              <a:custGeom>
                <a:rect b="b" l="l" r="r" t="t"/>
                <a:pathLst>
                  <a:path extrusionOk="0" h="4757" w="4521">
                    <a:moveTo>
                      <a:pt x="3516" y="0"/>
                    </a:moveTo>
                    <a:cubicBezTo>
                      <a:pt x="3246" y="0"/>
                      <a:pt x="2972" y="112"/>
                      <a:pt x="2770" y="331"/>
                    </a:cubicBezTo>
                    <a:lnTo>
                      <a:pt x="0" y="3069"/>
                    </a:lnTo>
                    <a:lnTo>
                      <a:pt x="1560" y="4756"/>
                    </a:lnTo>
                    <a:lnTo>
                      <a:pt x="4171" y="1668"/>
                    </a:lnTo>
                    <a:cubicBezTo>
                      <a:pt x="4521" y="1286"/>
                      <a:pt x="4521" y="682"/>
                      <a:pt x="4171" y="268"/>
                    </a:cubicBezTo>
                    <a:cubicBezTo>
                      <a:pt x="3991" y="88"/>
                      <a:pt x="3755" y="0"/>
                      <a:pt x="3516" y="0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31"/>
              <p:cNvSpPr/>
              <p:nvPr/>
            </p:nvSpPr>
            <p:spPr>
              <a:xfrm>
                <a:off x="6159012" y="2021633"/>
                <a:ext cx="80094" cy="211863"/>
              </a:xfrm>
              <a:custGeom>
                <a:rect b="b" l="l" r="r" t="t"/>
                <a:pathLst>
                  <a:path extrusionOk="0" h="13308" w="5031">
                    <a:moveTo>
                      <a:pt x="3916" y="1"/>
                    </a:moveTo>
                    <a:lnTo>
                      <a:pt x="2070" y="5636"/>
                    </a:lnTo>
                    <a:lnTo>
                      <a:pt x="0" y="13212"/>
                    </a:lnTo>
                    <a:lnTo>
                      <a:pt x="1178" y="13308"/>
                    </a:lnTo>
                    <a:lnTo>
                      <a:pt x="5030" y="7259"/>
                    </a:lnTo>
                    <a:lnTo>
                      <a:pt x="5030" y="64"/>
                    </a:lnTo>
                    <a:lnTo>
                      <a:pt x="3916" y="1"/>
                    </a:lnTo>
                    <a:close/>
                  </a:path>
                </a:pathLst>
              </a:custGeom>
              <a:solidFill>
                <a:srgbClr val="3643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31"/>
              <p:cNvSpPr/>
              <p:nvPr/>
            </p:nvSpPr>
            <p:spPr>
              <a:xfrm>
                <a:off x="6114909" y="2022397"/>
                <a:ext cx="187538" cy="211227"/>
              </a:xfrm>
              <a:custGeom>
                <a:rect b="b" l="l" r="r" t="t"/>
                <a:pathLst>
                  <a:path extrusionOk="0" h="13268" w="11780">
                    <a:moveTo>
                      <a:pt x="7757" y="1"/>
                    </a:moveTo>
                    <a:cubicBezTo>
                      <a:pt x="7577" y="1"/>
                      <a:pt x="7402" y="80"/>
                      <a:pt x="7291" y="239"/>
                    </a:cubicBezTo>
                    <a:lnTo>
                      <a:pt x="224" y="9058"/>
                    </a:lnTo>
                    <a:cubicBezTo>
                      <a:pt x="1" y="9312"/>
                      <a:pt x="1" y="9694"/>
                      <a:pt x="224" y="9949"/>
                    </a:cubicBezTo>
                    <a:lnTo>
                      <a:pt x="3471" y="13005"/>
                    </a:lnTo>
                    <a:cubicBezTo>
                      <a:pt x="3614" y="13180"/>
                      <a:pt x="3821" y="13268"/>
                      <a:pt x="4028" y="13268"/>
                    </a:cubicBezTo>
                    <a:cubicBezTo>
                      <a:pt x="4235" y="13268"/>
                      <a:pt x="4442" y="13180"/>
                      <a:pt x="4585" y="13005"/>
                    </a:cubicBezTo>
                    <a:lnTo>
                      <a:pt x="11620" y="4250"/>
                    </a:lnTo>
                    <a:cubicBezTo>
                      <a:pt x="11780" y="4028"/>
                      <a:pt x="11780" y="3709"/>
                      <a:pt x="11620" y="3486"/>
                    </a:cubicBezTo>
                    <a:lnTo>
                      <a:pt x="8246" y="239"/>
                    </a:lnTo>
                    <a:cubicBezTo>
                      <a:pt x="8119" y="80"/>
                      <a:pt x="7936" y="1"/>
                      <a:pt x="7757" y="1"/>
                    </a:cubicBezTo>
                    <a:close/>
                  </a:path>
                </a:pathLst>
              </a:custGeom>
              <a:solidFill>
                <a:srgbClr val="05090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31"/>
              <p:cNvSpPr/>
              <p:nvPr/>
            </p:nvSpPr>
            <p:spPr>
              <a:xfrm>
                <a:off x="6098191" y="2021760"/>
                <a:ext cx="187538" cy="210733"/>
              </a:xfrm>
              <a:custGeom>
                <a:rect b="b" l="l" r="r" t="t"/>
                <a:pathLst>
                  <a:path extrusionOk="0" h="13237" w="11780">
                    <a:moveTo>
                      <a:pt x="7736" y="1"/>
                    </a:moveTo>
                    <a:cubicBezTo>
                      <a:pt x="7561" y="1"/>
                      <a:pt x="7386" y="72"/>
                      <a:pt x="7259" y="216"/>
                    </a:cubicBezTo>
                    <a:lnTo>
                      <a:pt x="191" y="9034"/>
                    </a:lnTo>
                    <a:cubicBezTo>
                      <a:pt x="0" y="9289"/>
                      <a:pt x="0" y="9671"/>
                      <a:pt x="191" y="9925"/>
                    </a:cubicBezTo>
                    <a:lnTo>
                      <a:pt x="3438" y="12950"/>
                    </a:lnTo>
                    <a:cubicBezTo>
                      <a:pt x="3582" y="13141"/>
                      <a:pt x="3789" y="13236"/>
                      <a:pt x="3999" y="13236"/>
                    </a:cubicBezTo>
                    <a:cubicBezTo>
                      <a:pt x="4210" y="13236"/>
                      <a:pt x="4425" y="13141"/>
                      <a:pt x="4584" y="12950"/>
                    </a:cubicBezTo>
                    <a:lnTo>
                      <a:pt x="11588" y="4195"/>
                    </a:lnTo>
                    <a:cubicBezTo>
                      <a:pt x="11779" y="4004"/>
                      <a:pt x="11779" y="3686"/>
                      <a:pt x="11588" y="3463"/>
                    </a:cubicBezTo>
                    <a:lnTo>
                      <a:pt x="8214" y="216"/>
                    </a:lnTo>
                    <a:cubicBezTo>
                      <a:pt x="8086" y="72"/>
                      <a:pt x="7911" y="1"/>
                      <a:pt x="77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6075375" y="2108184"/>
                <a:ext cx="57280" cy="111647"/>
              </a:xfrm>
              <a:custGeom>
                <a:rect b="b" l="l" r="r" t="t"/>
                <a:pathLst>
                  <a:path extrusionOk="0" h="7013" w="3598">
                    <a:moveTo>
                      <a:pt x="2509" y="1"/>
                    </a:moveTo>
                    <a:cubicBezTo>
                      <a:pt x="2038" y="1"/>
                      <a:pt x="1690" y="314"/>
                      <a:pt x="1370" y="868"/>
                    </a:cubicBezTo>
                    <a:cubicBezTo>
                      <a:pt x="701" y="1919"/>
                      <a:pt x="287" y="3097"/>
                      <a:pt x="128" y="4338"/>
                    </a:cubicBezTo>
                    <a:cubicBezTo>
                      <a:pt x="1" y="5357"/>
                      <a:pt x="446" y="6407"/>
                      <a:pt x="1306" y="7012"/>
                    </a:cubicBezTo>
                    <a:lnTo>
                      <a:pt x="2165" y="6949"/>
                    </a:lnTo>
                    <a:cubicBezTo>
                      <a:pt x="3566" y="4306"/>
                      <a:pt x="2898" y="2555"/>
                      <a:pt x="2898" y="2555"/>
                    </a:cubicBezTo>
                    <a:lnTo>
                      <a:pt x="3502" y="1186"/>
                    </a:lnTo>
                    <a:cubicBezTo>
                      <a:pt x="3598" y="613"/>
                      <a:pt x="3184" y="104"/>
                      <a:pt x="2643" y="9"/>
                    </a:cubicBezTo>
                    <a:cubicBezTo>
                      <a:pt x="2597" y="3"/>
                      <a:pt x="2553" y="1"/>
                      <a:pt x="2509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5458514" y="2028734"/>
                <a:ext cx="357818" cy="505810"/>
              </a:xfrm>
              <a:custGeom>
                <a:rect b="b" l="l" r="r" t="t"/>
                <a:pathLst>
                  <a:path extrusionOk="0" h="31772" w="22476">
                    <a:moveTo>
                      <a:pt x="12416" y="0"/>
                    </a:moveTo>
                    <a:lnTo>
                      <a:pt x="8309" y="319"/>
                    </a:lnTo>
                    <a:cubicBezTo>
                      <a:pt x="8309" y="319"/>
                      <a:pt x="4553" y="1178"/>
                      <a:pt x="1879" y="2547"/>
                    </a:cubicBezTo>
                    <a:cubicBezTo>
                      <a:pt x="192" y="3375"/>
                      <a:pt x="1" y="5221"/>
                      <a:pt x="223" y="7100"/>
                    </a:cubicBezTo>
                    <a:lnTo>
                      <a:pt x="1592" y="31772"/>
                    </a:lnTo>
                    <a:lnTo>
                      <a:pt x="20916" y="31772"/>
                    </a:lnTo>
                    <a:lnTo>
                      <a:pt x="22285" y="7959"/>
                    </a:lnTo>
                    <a:cubicBezTo>
                      <a:pt x="22476" y="5317"/>
                      <a:pt x="20916" y="2770"/>
                      <a:pt x="18433" y="1911"/>
                    </a:cubicBezTo>
                    <a:cubicBezTo>
                      <a:pt x="15663" y="987"/>
                      <a:pt x="13912" y="64"/>
                      <a:pt x="12416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31"/>
              <p:cNvSpPr/>
              <p:nvPr/>
            </p:nvSpPr>
            <p:spPr>
              <a:xfrm>
                <a:off x="5806741" y="2154947"/>
                <a:ext cx="6591" cy="115563"/>
              </a:xfrm>
              <a:custGeom>
                <a:rect b="b" l="l" r="r" t="t"/>
                <a:pathLst>
                  <a:path extrusionOk="0" fill="none" h="7259" w="414">
                    <a:moveTo>
                      <a:pt x="0" y="7259"/>
                    </a:moveTo>
                    <a:lnTo>
                      <a:pt x="414" y="0"/>
                    </a:lnTo>
                  </a:path>
                </a:pathLst>
              </a:custGeom>
              <a:solidFill>
                <a:srgbClr val="351C75"/>
              </a:solidFill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31"/>
              <p:cNvSpPr/>
              <p:nvPr/>
            </p:nvSpPr>
            <p:spPr>
              <a:xfrm>
                <a:off x="5555335" y="2033797"/>
                <a:ext cx="189559" cy="52695"/>
              </a:xfrm>
              <a:custGeom>
                <a:rect b="b" l="l" r="r" t="t"/>
                <a:pathLst>
                  <a:path extrusionOk="0" h="3310" w="11907">
                    <a:moveTo>
                      <a:pt x="2228" y="1"/>
                    </a:moveTo>
                    <a:lnTo>
                      <a:pt x="0" y="606"/>
                    </a:lnTo>
                    <a:cubicBezTo>
                      <a:pt x="0" y="606"/>
                      <a:pt x="1406" y="3310"/>
                      <a:pt x="6337" y="3310"/>
                    </a:cubicBezTo>
                    <a:cubicBezTo>
                      <a:pt x="6756" y="3310"/>
                      <a:pt x="7201" y="3290"/>
                      <a:pt x="7672" y="3248"/>
                    </a:cubicBezTo>
                    <a:cubicBezTo>
                      <a:pt x="11906" y="2866"/>
                      <a:pt x="10219" y="829"/>
                      <a:pt x="10219" y="829"/>
                    </a:cubicBezTo>
                    <a:lnTo>
                      <a:pt x="8118" y="65"/>
                    </a:lnTo>
                    <a:lnTo>
                      <a:pt x="2228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5240559" y="2259363"/>
                <a:ext cx="218454" cy="280781"/>
              </a:xfrm>
              <a:custGeom>
                <a:rect b="b" l="l" r="r" t="t"/>
                <a:pathLst>
                  <a:path extrusionOk="0" h="17637" w="13722">
                    <a:moveTo>
                      <a:pt x="3725" y="0"/>
                    </a:moveTo>
                    <a:lnTo>
                      <a:pt x="1" y="6845"/>
                    </a:lnTo>
                    <a:lnTo>
                      <a:pt x="11047" y="17637"/>
                    </a:lnTo>
                    <a:lnTo>
                      <a:pt x="13721" y="14708"/>
                    </a:lnTo>
                    <a:lnTo>
                      <a:pt x="3725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5415939" y="2435826"/>
                <a:ext cx="197169" cy="148199"/>
              </a:xfrm>
              <a:custGeom>
                <a:rect b="b" l="l" r="r" t="t"/>
                <a:pathLst>
                  <a:path extrusionOk="0" h="9309" w="12385">
                    <a:moveTo>
                      <a:pt x="7258" y="0"/>
                    </a:moveTo>
                    <a:cubicBezTo>
                      <a:pt x="7087" y="0"/>
                      <a:pt x="6910" y="57"/>
                      <a:pt x="6749" y="187"/>
                    </a:cubicBezTo>
                    <a:lnTo>
                      <a:pt x="2547" y="3466"/>
                    </a:lnTo>
                    <a:lnTo>
                      <a:pt x="0" y="6554"/>
                    </a:lnTo>
                    <a:cubicBezTo>
                      <a:pt x="1582" y="7919"/>
                      <a:pt x="2780" y="8325"/>
                      <a:pt x="3655" y="8325"/>
                    </a:cubicBezTo>
                    <a:cubicBezTo>
                      <a:pt x="4066" y="8325"/>
                      <a:pt x="4406" y="8236"/>
                      <a:pt x="4680" y="8114"/>
                    </a:cubicBezTo>
                    <a:cubicBezTo>
                      <a:pt x="4776" y="8145"/>
                      <a:pt x="4903" y="8209"/>
                      <a:pt x="4999" y="8241"/>
                    </a:cubicBezTo>
                    <a:lnTo>
                      <a:pt x="8532" y="9260"/>
                    </a:lnTo>
                    <a:cubicBezTo>
                      <a:pt x="8623" y="9293"/>
                      <a:pt x="8715" y="9308"/>
                      <a:pt x="8806" y="9308"/>
                    </a:cubicBezTo>
                    <a:cubicBezTo>
                      <a:pt x="9065" y="9308"/>
                      <a:pt x="9306" y="9177"/>
                      <a:pt x="9424" y="8941"/>
                    </a:cubicBezTo>
                    <a:cubicBezTo>
                      <a:pt x="9519" y="8687"/>
                      <a:pt x="9583" y="8337"/>
                      <a:pt x="8882" y="7986"/>
                    </a:cubicBezTo>
                    <a:lnTo>
                      <a:pt x="8882" y="7986"/>
                    </a:lnTo>
                    <a:lnTo>
                      <a:pt x="9583" y="8336"/>
                    </a:lnTo>
                    <a:cubicBezTo>
                      <a:pt x="9664" y="8369"/>
                      <a:pt x="9751" y="8385"/>
                      <a:pt x="9838" y="8385"/>
                    </a:cubicBezTo>
                    <a:cubicBezTo>
                      <a:pt x="10095" y="8385"/>
                      <a:pt x="10355" y="8248"/>
                      <a:pt x="10474" y="7986"/>
                    </a:cubicBezTo>
                    <a:cubicBezTo>
                      <a:pt x="10633" y="7668"/>
                      <a:pt x="10442" y="7286"/>
                      <a:pt x="10060" y="7031"/>
                    </a:cubicBezTo>
                    <a:lnTo>
                      <a:pt x="10060" y="7031"/>
                    </a:lnTo>
                    <a:lnTo>
                      <a:pt x="10570" y="7222"/>
                    </a:lnTo>
                    <a:cubicBezTo>
                      <a:pt x="10661" y="7261"/>
                      <a:pt x="10757" y="7279"/>
                      <a:pt x="10851" y="7279"/>
                    </a:cubicBezTo>
                    <a:cubicBezTo>
                      <a:pt x="11148" y="7279"/>
                      <a:pt x="11428" y="7099"/>
                      <a:pt x="11525" y="6808"/>
                    </a:cubicBezTo>
                    <a:cubicBezTo>
                      <a:pt x="11652" y="6458"/>
                      <a:pt x="11461" y="6076"/>
                      <a:pt x="11143" y="5917"/>
                    </a:cubicBezTo>
                    <a:lnTo>
                      <a:pt x="10379" y="5503"/>
                    </a:lnTo>
                    <a:lnTo>
                      <a:pt x="11270" y="5726"/>
                    </a:lnTo>
                    <a:cubicBezTo>
                      <a:pt x="11349" y="5750"/>
                      <a:pt x="11430" y="5762"/>
                      <a:pt x="11510" y="5762"/>
                    </a:cubicBezTo>
                    <a:cubicBezTo>
                      <a:pt x="11853" y="5762"/>
                      <a:pt x="12186" y="5552"/>
                      <a:pt x="12289" y="5217"/>
                    </a:cubicBezTo>
                    <a:cubicBezTo>
                      <a:pt x="12384" y="4835"/>
                      <a:pt x="12225" y="4453"/>
                      <a:pt x="11875" y="4293"/>
                    </a:cubicBezTo>
                    <a:lnTo>
                      <a:pt x="7609" y="2129"/>
                    </a:lnTo>
                    <a:lnTo>
                      <a:pt x="8023" y="1174"/>
                    </a:lnTo>
                    <a:cubicBezTo>
                      <a:pt x="8289" y="569"/>
                      <a:pt x="7801" y="0"/>
                      <a:pt x="7258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31"/>
              <p:cNvSpPr/>
              <p:nvPr/>
            </p:nvSpPr>
            <p:spPr>
              <a:xfrm>
                <a:off x="5545192" y="2506710"/>
                <a:ext cx="40055" cy="18770"/>
              </a:xfrm>
              <a:custGeom>
                <a:rect b="b" l="l" r="r" t="t"/>
                <a:pathLst>
                  <a:path extrusionOk="0" fill="none" h="1179" w="2516">
                    <a:moveTo>
                      <a:pt x="2515" y="1179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31"/>
              <p:cNvSpPr/>
              <p:nvPr/>
            </p:nvSpPr>
            <p:spPr>
              <a:xfrm>
                <a:off x="5535560" y="2530529"/>
                <a:ext cx="39036" cy="16238"/>
              </a:xfrm>
              <a:custGeom>
                <a:rect b="b" l="l" r="r" t="t"/>
                <a:pathLst>
                  <a:path extrusionOk="0" fill="none" h="1020" w="2452">
                    <a:moveTo>
                      <a:pt x="2452" y="1020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1"/>
              <p:cNvSpPr/>
              <p:nvPr/>
            </p:nvSpPr>
            <p:spPr>
              <a:xfrm>
                <a:off x="5528459" y="2551323"/>
                <a:ext cx="32970" cy="12672"/>
              </a:xfrm>
              <a:custGeom>
                <a:rect b="b" l="l" r="r" t="t"/>
                <a:pathLst>
                  <a:path extrusionOk="0" fill="none" h="796" w="2071">
                    <a:moveTo>
                      <a:pt x="2070" y="79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31"/>
              <p:cNvSpPr/>
              <p:nvPr/>
            </p:nvSpPr>
            <p:spPr>
              <a:xfrm>
                <a:off x="5217250" y="2085925"/>
                <a:ext cx="332473" cy="299694"/>
              </a:xfrm>
              <a:custGeom>
                <a:rect b="b" l="l" r="r" t="t"/>
                <a:pathLst>
                  <a:path extrusionOk="0" h="18825" w="20884">
                    <a:moveTo>
                      <a:pt x="16342" y="1"/>
                    </a:moveTo>
                    <a:cubicBezTo>
                      <a:pt x="15241" y="1"/>
                      <a:pt x="14149" y="445"/>
                      <a:pt x="13371" y="1311"/>
                    </a:cubicBezTo>
                    <a:lnTo>
                      <a:pt x="1433" y="12994"/>
                    </a:lnTo>
                    <a:cubicBezTo>
                      <a:pt x="0" y="14554"/>
                      <a:pt x="287" y="17037"/>
                      <a:pt x="2069" y="18215"/>
                    </a:cubicBezTo>
                    <a:cubicBezTo>
                      <a:pt x="2671" y="18625"/>
                      <a:pt x="3355" y="18824"/>
                      <a:pt x="4035" y="18824"/>
                    </a:cubicBezTo>
                    <a:cubicBezTo>
                      <a:pt x="4939" y="18824"/>
                      <a:pt x="5836" y="18473"/>
                      <a:pt x="6526" y="17801"/>
                    </a:cubicBezTo>
                    <a:lnTo>
                      <a:pt x="19197" y="6850"/>
                    </a:lnTo>
                    <a:cubicBezTo>
                      <a:pt x="20884" y="5131"/>
                      <a:pt x="20725" y="2362"/>
                      <a:pt x="18846" y="865"/>
                    </a:cubicBezTo>
                    <a:cubicBezTo>
                      <a:pt x="18110" y="285"/>
                      <a:pt x="17223" y="1"/>
                      <a:pt x="16342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1"/>
              <p:cNvSpPr/>
              <p:nvPr/>
            </p:nvSpPr>
            <p:spPr>
              <a:xfrm>
                <a:off x="5339912" y="2051040"/>
                <a:ext cx="223517" cy="249864"/>
              </a:xfrm>
              <a:custGeom>
                <a:rect b="b" l="l" r="r" t="t"/>
                <a:pathLst>
                  <a:path extrusionOk="0" h="15695" w="14040">
                    <a:moveTo>
                      <a:pt x="12066" y="0"/>
                    </a:moveTo>
                    <a:cubicBezTo>
                      <a:pt x="12066" y="0"/>
                      <a:pt x="5444" y="1305"/>
                      <a:pt x="0" y="8182"/>
                    </a:cubicBezTo>
                    <a:lnTo>
                      <a:pt x="5762" y="15695"/>
                    </a:lnTo>
                    <a:lnTo>
                      <a:pt x="14039" y="9773"/>
                    </a:lnTo>
                    <a:lnTo>
                      <a:pt x="12066" y="0"/>
                    </a:ln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1"/>
              <p:cNvSpPr/>
              <p:nvPr/>
            </p:nvSpPr>
            <p:spPr>
              <a:xfrm>
                <a:off x="5476251" y="2214256"/>
                <a:ext cx="76543" cy="54749"/>
              </a:xfrm>
              <a:custGeom>
                <a:rect b="b" l="l" r="r" t="t"/>
                <a:pathLst>
                  <a:path extrusionOk="0" fill="none" h="3439" w="4808">
                    <a:moveTo>
                      <a:pt x="1" y="3438"/>
                    </a:moveTo>
                    <a:lnTo>
                      <a:pt x="4808" y="0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31"/>
              <p:cNvSpPr/>
              <p:nvPr/>
            </p:nvSpPr>
            <p:spPr>
              <a:xfrm>
                <a:off x="5711958" y="1703831"/>
                <a:ext cx="78056" cy="103400"/>
              </a:xfrm>
              <a:custGeom>
                <a:rect b="b" l="l" r="r" t="t"/>
                <a:pathLst>
                  <a:path extrusionOk="0" h="6495" w="4903">
                    <a:moveTo>
                      <a:pt x="2674" y="0"/>
                    </a:moveTo>
                    <a:lnTo>
                      <a:pt x="0" y="414"/>
                    </a:lnTo>
                    <a:lnTo>
                      <a:pt x="3088" y="6495"/>
                    </a:lnTo>
                    <a:cubicBezTo>
                      <a:pt x="4903" y="1974"/>
                      <a:pt x="2674" y="0"/>
                      <a:pt x="2674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31"/>
              <p:cNvSpPr/>
              <p:nvPr/>
            </p:nvSpPr>
            <p:spPr>
              <a:xfrm>
                <a:off x="5494497" y="1712381"/>
                <a:ext cx="99357" cy="193173"/>
              </a:xfrm>
              <a:custGeom>
                <a:rect b="b" l="l" r="r" t="t"/>
                <a:pathLst>
                  <a:path extrusionOk="0" h="12134" w="6241">
                    <a:moveTo>
                      <a:pt x="3677" y="0"/>
                    </a:moveTo>
                    <a:cubicBezTo>
                      <a:pt x="3172" y="0"/>
                      <a:pt x="1108" y="220"/>
                      <a:pt x="606" y="3761"/>
                    </a:cubicBezTo>
                    <a:cubicBezTo>
                      <a:pt x="1" y="7772"/>
                      <a:pt x="2993" y="10192"/>
                      <a:pt x="6240" y="12134"/>
                    </a:cubicBezTo>
                    <a:lnTo>
                      <a:pt x="3789" y="5"/>
                    </a:lnTo>
                    <a:cubicBezTo>
                      <a:pt x="3789" y="5"/>
                      <a:pt x="3749" y="0"/>
                      <a:pt x="3677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31"/>
              <p:cNvSpPr/>
              <p:nvPr/>
            </p:nvSpPr>
            <p:spPr>
              <a:xfrm>
                <a:off x="5522376" y="1672401"/>
                <a:ext cx="238720" cy="244308"/>
              </a:xfrm>
              <a:custGeom>
                <a:rect b="b" l="l" r="r" t="t"/>
                <a:pathLst>
                  <a:path extrusionOk="0" h="15346" w="14995">
                    <a:moveTo>
                      <a:pt x="7482" y="1"/>
                    </a:moveTo>
                    <a:cubicBezTo>
                      <a:pt x="3343" y="1"/>
                      <a:pt x="1" y="3439"/>
                      <a:pt x="1" y="7673"/>
                    </a:cubicBezTo>
                    <a:cubicBezTo>
                      <a:pt x="1" y="11907"/>
                      <a:pt x="3343" y="15345"/>
                      <a:pt x="7482" y="15345"/>
                    </a:cubicBezTo>
                    <a:cubicBezTo>
                      <a:pt x="11652" y="15345"/>
                      <a:pt x="14995" y="11907"/>
                      <a:pt x="14995" y="7673"/>
                    </a:cubicBezTo>
                    <a:cubicBezTo>
                      <a:pt x="14995" y="3439"/>
                      <a:pt x="11652" y="1"/>
                      <a:pt x="7482" y="1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31"/>
              <p:cNvSpPr/>
              <p:nvPr/>
            </p:nvSpPr>
            <p:spPr>
              <a:xfrm>
                <a:off x="5712961" y="1807005"/>
                <a:ext cx="68950" cy="60783"/>
              </a:xfrm>
              <a:custGeom>
                <a:rect b="b" l="l" r="r" t="t"/>
                <a:pathLst>
                  <a:path extrusionOk="0" h="3818" w="4331">
                    <a:moveTo>
                      <a:pt x="2162" y="0"/>
                    </a:moveTo>
                    <a:cubicBezTo>
                      <a:pt x="1460" y="0"/>
                      <a:pt x="794" y="389"/>
                      <a:pt x="478" y="1065"/>
                    </a:cubicBezTo>
                    <a:cubicBezTo>
                      <a:pt x="1" y="2020"/>
                      <a:pt x="383" y="3135"/>
                      <a:pt x="1338" y="3612"/>
                    </a:cubicBezTo>
                    <a:cubicBezTo>
                      <a:pt x="1607" y="3751"/>
                      <a:pt x="1896" y="3818"/>
                      <a:pt x="2181" y="3818"/>
                    </a:cubicBezTo>
                    <a:cubicBezTo>
                      <a:pt x="2873" y="3818"/>
                      <a:pt x="3546" y="3429"/>
                      <a:pt x="3885" y="2752"/>
                    </a:cubicBezTo>
                    <a:cubicBezTo>
                      <a:pt x="4330" y="1797"/>
                      <a:pt x="3948" y="683"/>
                      <a:pt x="3025" y="206"/>
                    </a:cubicBezTo>
                    <a:cubicBezTo>
                      <a:pt x="2746" y="66"/>
                      <a:pt x="2451" y="0"/>
                      <a:pt x="2162" y="0"/>
                    </a:cubicBezTo>
                    <a:close/>
                  </a:path>
                </a:pathLst>
              </a:custGeom>
              <a:solidFill>
                <a:srgbClr val="DD81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31"/>
              <p:cNvSpPr/>
              <p:nvPr/>
            </p:nvSpPr>
            <p:spPr>
              <a:xfrm>
                <a:off x="5588277" y="1843721"/>
                <a:ext cx="98338" cy="205272"/>
              </a:xfrm>
              <a:custGeom>
                <a:rect b="b" l="l" r="r" t="t"/>
                <a:pathLst>
                  <a:path extrusionOk="0" h="12894" w="6177">
                    <a:moveTo>
                      <a:pt x="446" y="1"/>
                    </a:moveTo>
                    <a:lnTo>
                      <a:pt x="0" y="11875"/>
                    </a:lnTo>
                    <a:lnTo>
                      <a:pt x="6176" y="12894"/>
                    </a:lnTo>
                    <a:lnTo>
                      <a:pt x="6081" y="4617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31"/>
              <p:cNvSpPr/>
              <p:nvPr/>
            </p:nvSpPr>
            <p:spPr>
              <a:xfrm>
                <a:off x="5616666" y="1916723"/>
                <a:ext cx="71465" cy="67421"/>
              </a:xfrm>
              <a:custGeom>
                <a:rect b="b" l="l" r="r" t="t"/>
                <a:pathLst>
                  <a:path extrusionOk="0" h="4235" w="4489">
                    <a:moveTo>
                      <a:pt x="0" y="0"/>
                    </a:moveTo>
                    <a:lnTo>
                      <a:pt x="4361" y="4234"/>
                    </a:lnTo>
                    <a:lnTo>
                      <a:pt x="4489" y="7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31"/>
              <p:cNvSpPr/>
              <p:nvPr/>
            </p:nvSpPr>
            <p:spPr>
              <a:xfrm>
                <a:off x="5567276" y="1703847"/>
                <a:ext cx="206005" cy="238816"/>
              </a:xfrm>
              <a:custGeom>
                <a:rect b="b" l="l" r="r" t="t"/>
                <a:pathLst>
                  <a:path extrusionOk="0" h="15001" w="12940">
                    <a:moveTo>
                      <a:pt x="6865" y="0"/>
                    </a:moveTo>
                    <a:cubicBezTo>
                      <a:pt x="3337" y="0"/>
                      <a:pt x="0" y="3307"/>
                      <a:pt x="1192" y="9200"/>
                    </a:cubicBezTo>
                    <a:cubicBezTo>
                      <a:pt x="2306" y="14834"/>
                      <a:pt x="6126" y="14898"/>
                      <a:pt x="6126" y="14898"/>
                    </a:cubicBezTo>
                    <a:cubicBezTo>
                      <a:pt x="6554" y="14967"/>
                      <a:pt x="6960" y="15001"/>
                      <a:pt x="7344" y="15001"/>
                    </a:cubicBezTo>
                    <a:cubicBezTo>
                      <a:pt x="9955" y="15001"/>
                      <a:pt x="11541" y="13458"/>
                      <a:pt x="12207" y="11237"/>
                    </a:cubicBezTo>
                    <a:cubicBezTo>
                      <a:pt x="12939" y="8658"/>
                      <a:pt x="11284" y="2005"/>
                      <a:pt x="11284" y="2005"/>
                    </a:cubicBezTo>
                    <a:cubicBezTo>
                      <a:pt x="10024" y="648"/>
                      <a:pt x="8426" y="0"/>
                      <a:pt x="6865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31"/>
              <p:cNvSpPr/>
              <p:nvPr/>
            </p:nvSpPr>
            <p:spPr>
              <a:xfrm>
                <a:off x="5567499" y="1740181"/>
                <a:ext cx="74506" cy="110135"/>
              </a:xfrm>
              <a:custGeom>
                <a:rect b="b" l="l" r="r" t="t"/>
                <a:pathLst>
                  <a:path extrusionOk="0" h="6918" w="4680">
                    <a:moveTo>
                      <a:pt x="1429" y="0"/>
                    </a:moveTo>
                    <a:cubicBezTo>
                      <a:pt x="977" y="0"/>
                      <a:pt x="655" y="490"/>
                      <a:pt x="382" y="2493"/>
                    </a:cubicBezTo>
                    <a:cubicBezTo>
                      <a:pt x="0" y="5326"/>
                      <a:pt x="987" y="5772"/>
                      <a:pt x="987" y="5772"/>
                    </a:cubicBezTo>
                    <a:lnTo>
                      <a:pt x="2229" y="6918"/>
                    </a:lnTo>
                    <a:cubicBezTo>
                      <a:pt x="2229" y="6918"/>
                      <a:pt x="4680" y="1283"/>
                      <a:pt x="2037" y="169"/>
                    </a:cubicBezTo>
                    <a:cubicBezTo>
                      <a:pt x="1811" y="78"/>
                      <a:pt x="1610" y="0"/>
                      <a:pt x="1429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31"/>
              <p:cNvSpPr/>
              <p:nvPr/>
            </p:nvSpPr>
            <p:spPr>
              <a:xfrm>
                <a:off x="5543664" y="1818787"/>
                <a:ext cx="73901" cy="62980"/>
              </a:xfrm>
              <a:custGeom>
                <a:rect b="b" l="l" r="r" t="t"/>
                <a:pathLst>
                  <a:path extrusionOk="0" h="3956" w="4642">
                    <a:moveTo>
                      <a:pt x="2197" y="1"/>
                    </a:moveTo>
                    <a:cubicBezTo>
                      <a:pt x="1991" y="1"/>
                      <a:pt x="1777" y="33"/>
                      <a:pt x="1561" y="102"/>
                    </a:cubicBezTo>
                    <a:cubicBezTo>
                      <a:pt x="542" y="453"/>
                      <a:pt x="1" y="1567"/>
                      <a:pt x="351" y="2617"/>
                    </a:cubicBezTo>
                    <a:cubicBezTo>
                      <a:pt x="639" y="3498"/>
                      <a:pt x="1423" y="3955"/>
                      <a:pt x="2208" y="3955"/>
                    </a:cubicBezTo>
                    <a:cubicBezTo>
                      <a:pt x="2899" y="3955"/>
                      <a:pt x="3591" y="3602"/>
                      <a:pt x="3948" y="2872"/>
                    </a:cubicBezTo>
                    <a:cubicBezTo>
                      <a:pt x="4642" y="1485"/>
                      <a:pt x="3594" y="1"/>
                      <a:pt x="2197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31"/>
              <p:cNvSpPr/>
              <p:nvPr/>
            </p:nvSpPr>
            <p:spPr>
              <a:xfrm>
                <a:off x="5564458" y="1837639"/>
                <a:ext cx="29404" cy="21810"/>
              </a:xfrm>
              <a:custGeom>
                <a:rect b="b" l="l" r="r" t="t"/>
                <a:pathLst>
                  <a:path extrusionOk="0" fill="none" h="1370" w="1847">
                    <a:moveTo>
                      <a:pt x="0" y="255"/>
                    </a:moveTo>
                    <a:cubicBezTo>
                      <a:pt x="828" y="1"/>
                      <a:pt x="1687" y="510"/>
                      <a:pt x="1846" y="1370"/>
                    </a:cubicBez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31"/>
              <p:cNvSpPr/>
              <p:nvPr/>
            </p:nvSpPr>
            <p:spPr>
              <a:xfrm>
                <a:off x="5721575" y="1838658"/>
                <a:ext cx="10666" cy="27892"/>
              </a:xfrm>
              <a:custGeom>
                <a:rect b="b" l="l" r="r" t="t"/>
                <a:pathLst>
                  <a:path extrusionOk="0" fill="none" h="1752" w="670">
                    <a:moveTo>
                      <a:pt x="224" y="0"/>
                    </a:moveTo>
                    <a:lnTo>
                      <a:pt x="638" y="1433"/>
                    </a:lnTo>
                    <a:cubicBezTo>
                      <a:pt x="669" y="1529"/>
                      <a:pt x="606" y="1624"/>
                      <a:pt x="510" y="1656"/>
                    </a:cubicBezTo>
                    <a:lnTo>
                      <a:pt x="1" y="1751"/>
                    </a:lnTo>
                  </a:path>
                </a:pathLst>
              </a:custGeom>
              <a:noFill/>
              <a:ln cap="rnd" cmpd="sng" w="3975">
                <a:solidFill>
                  <a:srgbClr val="1E0B0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31"/>
              <p:cNvSpPr/>
              <p:nvPr/>
            </p:nvSpPr>
            <p:spPr>
              <a:xfrm>
                <a:off x="5677121" y="1823914"/>
                <a:ext cx="17608" cy="15188"/>
              </a:xfrm>
              <a:custGeom>
                <a:rect b="b" l="l" r="r" t="t"/>
                <a:pathLst>
                  <a:path extrusionOk="0" h="954" w="1106">
                    <a:moveTo>
                      <a:pt x="452" y="0"/>
                    </a:moveTo>
                    <a:cubicBezTo>
                      <a:pt x="218" y="0"/>
                      <a:pt x="23" y="211"/>
                      <a:pt x="23" y="449"/>
                    </a:cubicBezTo>
                    <a:cubicBezTo>
                      <a:pt x="1" y="740"/>
                      <a:pt x="231" y="953"/>
                      <a:pt x="481" y="953"/>
                    </a:cubicBezTo>
                    <a:cubicBezTo>
                      <a:pt x="585" y="953"/>
                      <a:pt x="693" y="916"/>
                      <a:pt x="787" y="831"/>
                    </a:cubicBezTo>
                    <a:cubicBezTo>
                      <a:pt x="1106" y="544"/>
                      <a:pt x="946" y="35"/>
                      <a:pt x="501" y="3"/>
                    </a:cubicBezTo>
                    <a:cubicBezTo>
                      <a:pt x="484" y="1"/>
                      <a:pt x="468" y="0"/>
                      <a:pt x="452" y="0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31"/>
              <p:cNvSpPr/>
              <p:nvPr/>
            </p:nvSpPr>
            <p:spPr>
              <a:xfrm>
                <a:off x="5739981" y="1822943"/>
                <a:ext cx="17098" cy="14137"/>
              </a:xfrm>
              <a:custGeom>
                <a:rect b="b" l="l" r="r" t="t"/>
                <a:pathLst>
                  <a:path extrusionOk="0" h="888" w="1074">
                    <a:moveTo>
                      <a:pt x="500" y="1"/>
                    </a:moveTo>
                    <a:cubicBezTo>
                      <a:pt x="277" y="1"/>
                      <a:pt x="55" y="160"/>
                      <a:pt x="23" y="414"/>
                    </a:cubicBezTo>
                    <a:cubicBezTo>
                      <a:pt x="0" y="682"/>
                      <a:pt x="229" y="888"/>
                      <a:pt x="466" y="888"/>
                    </a:cubicBezTo>
                    <a:cubicBezTo>
                      <a:pt x="567" y="888"/>
                      <a:pt x="669" y="850"/>
                      <a:pt x="755" y="765"/>
                    </a:cubicBezTo>
                    <a:cubicBezTo>
                      <a:pt x="1073" y="510"/>
                      <a:pt x="882" y="32"/>
                      <a:pt x="500" y="1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31"/>
              <p:cNvSpPr/>
              <p:nvPr/>
            </p:nvSpPr>
            <p:spPr>
              <a:xfrm>
                <a:off x="5641997" y="1773776"/>
                <a:ext cx="57296" cy="24342"/>
              </a:xfrm>
              <a:custGeom>
                <a:rect b="b" l="l" r="r" t="t"/>
                <a:pathLst>
                  <a:path extrusionOk="0" h="1529" w="3599">
                    <a:moveTo>
                      <a:pt x="2443" y="1"/>
                    </a:moveTo>
                    <a:cubicBezTo>
                      <a:pt x="2240" y="1"/>
                      <a:pt x="2038" y="32"/>
                      <a:pt x="1847" y="96"/>
                    </a:cubicBezTo>
                    <a:cubicBezTo>
                      <a:pt x="1115" y="383"/>
                      <a:pt x="478" y="892"/>
                      <a:pt x="1" y="1529"/>
                    </a:cubicBezTo>
                    <a:lnTo>
                      <a:pt x="3598" y="383"/>
                    </a:lnTo>
                    <a:cubicBezTo>
                      <a:pt x="3259" y="128"/>
                      <a:pt x="2848" y="1"/>
                      <a:pt x="2443" y="1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31"/>
              <p:cNvSpPr/>
              <p:nvPr/>
            </p:nvSpPr>
            <p:spPr>
              <a:xfrm>
                <a:off x="5731208" y="1772327"/>
                <a:ext cx="29914" cy="15649"/>
              </a:xfrm>
              <a:custGeom>
                <a:rect b="b" l="l" r="r" t="t"/>
                <a:pathLst>
                  <a:path extrusionOk="0" h="983" w="1879">
                    <a:moveTo>
                      <a:pt x="794" y="0"/>
                    </a:moveTo>
                    <a:cubicBezTo>
                      <a:pt x="492" y="0"/>
                      <a:pt x="205" y="148"/>
                      <a:pt x="1" y="378"/>
                    </a:cubicBezTo>
                    <a:lnTo>
                      <a:pt x="1879" y="983"/>
                    </a:lnTo>
                    <a:cubicBezTo>
                      <a:pt x="1879" y="983"/>
                      <a:pt x="1561" y="187"/>
                      <a:pt x="1019" y="28"/>
                    </a:cubicBezTo>
                    <a:cubicBezTo>
                      <a:pt x="944" y="9"/>
                      <a:pt x="869" y="0"/>
                      <a:pt x="794" y="0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31"/>
              <p:cNvSpPr/>
              <p:nvPr/>
            </p:nvSpPr>
            <p:spPr>
              <a:xfrm>
                <a:off x="5685082" y="1871600"/>
                <a:ext cx="41583" cy="17608"/>
              </a:xfrm>
              <a:custGeom>
                <a:rect b="b" l="l" r="r" t="t"/>
                <a:pathLst>
                  <a:path extrusionOk="0" h="1106" w="2612">
                    <a:moveTo>
                      <a:pt x="1" y="1"/>
                    </a:moveTo>
                    <a:lnTo>
                      <a:pt x="1" y="1"/>
                    </a:lnTo>
                    <a:cubicBezTo>
                      <a:pt x="362" y="862"/>
                      <a:pt x="906" y="1105"/>
                      <a:pt x="1403" y="1105"/>
                    </a:cubicBezTo>
                    <a:cubicBezTo>
                      <a:pt x="2045" y="1105"/>
                      <a:pt x="2611" y="701"/>
                      <a:pt x="2611" y="701"/>
                    </a:cubicBezTo>
                    <a:cubicBezTo>
                      <a:pt x="1688" y="669"/>
                      <a:pt x="797" y="415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1"/>
              <p:cNvSpPr/>
              <p:nvPr/>
            </p:nvSpPr>
            <p:spPr>
              <a:xfrm>
                <a:off x="5552294" y="1660715"/>
                <a:ext cx="226558" cy="99691"/>
              </a:xfrm>
              <a:custGeom>
                <a:rect b="b" l="l" r="r" t="t"/>
                <a:pathLst>
                  <a:path extrusionOk="0" h="6262" w="14231">
                    <a:moveTo>
                      <a:pt x="3823" y="0"/>
                    </a:moveTo>
                    <a:cubicBezTo>
                      <a:pt x="2872" y="0"/>
                      <a:pt x="1957" y="201"/>
                      <a:pt x="1210" y="767"/>
                    </a:cubicBezTo>
                    <a:cubicBezTo>
                      <a:pt x="414" y="1340"/>
                      <a:pt x="0" y="2295"/>
                      <a:pt x="159" y="3250"/>
                    </a:cubicBezTo>
                    <a:cubicBezTo>
                      <a:pt x="318" y="4014"/>
                      <a:pt x="796" y="4810"/>
                      <a:pt x="2197" y="5223"/>
                    </a:cubicBezTo>
                    <a:cubicBezTo>
                      <a:pt x="2197" y="5223"/>
                      <a:pt x="3388" y="6261"/>
                      <a:pt x="6234" y="6261"/>
                    </a:cubicBezTo>
                    <a:cubicBezTo>
                      <a:pt x="7051" y="6261"/>
                      <a:pt x="8004" y="6176"/>
                      <a:pt x="9105" y="5956"/>
                    </a:cubicBezTo>
                    <a:cubicBezTo>
                      <a:pt x="14039" y="4969"/>
                      <a:pt x="14230" y="1626"/>
                      <a:pt x="13625" y="448"/>
                    </a:cubicBezTo>
                    <a:lnTo>
                      <a:pt x="13625" y="448"/>
                    </a:lnTo>
                    <a:cubicBezTo>
                      <a:pt x="13625" y="448"/>
                      <a:pt x="12505" y="1313"/>
                      <a:pt x="10589" y="1313"/>
                    </a:cubicBezTo>
                    <a:cubicBezTo>
                      <a:pt x="10066" y="1313"/>
                      <a:pt x="9485" y="1249"/>
                      <a:pt x="8850" y="1085"/>
                    </a:cubicBezTo>
                    <a:cubicBezTo>
                      <a:pt x="7729" y="789"/>
                      <a:pt x="5707" y="0"/>
                      <a:pt x="3823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31"/>
              <p:cNvSpPr/>
              <p:nvPr/>
            </p:nvSpPr>
            <p:spPr>
              <a:xfrm>
                <a:off x="5025136" y="2616699"/>
                <a:ext cx="204270" cy="517480"/>
              </a:xfrm>
              <a:custGeom>
                <a:rect b="b" l="l" r="r" t="t"/>
                <a:pathLst>
                  <a:path extrusionOk="0" fill="none" h="32505" w="12831">
                    <a:moveTo>
                      <a:pt x="4967" y="1"/>
                    </a:moveTo>
                    <a:lnTo>
                      <a:pt x="7864" y="1"/>
                    </a:lnTo>
                    <a:cubicBezTo>
                      <a:pt x="10602" y="1"/>
                      <a:pt x="12830" y="2229"/>
                      <a:pt x="12830" y="4999"/>
                    </a:cubicBezTo>
                    <a:lnTo>
                      <a:pt x="12830" y="32504"/>
                    </a:lnTo>
                    <a:lnTo>
                      <a:pt x="1" y="32504"/>
                    </a:lnTo>
                    <a:lnTo>
                      <a:pt x="1" y="4999"/>
                    </a:lnTo>
                    <a:cubicBezTo>
                      <a:pt x="1" y="2229"/>
                      <a:pt x="2229" y="1"/>
                      <a:pt x="4967" y="1"/>
                    </a:cubicBezTo>
                    <a:close/>
                  </a:path>
                </a:pathLst>
              </a:custGeom>
              <a:noFill/>
              <a:ln cap="flat" cmpd="sng" w="28650">
                <a:solidFill>
                  <a:srgbClr val="101010"/>
                </a:solidFill>
                <a:prstDash val="solid"/>
                <a:miter lim="3183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31"/>
              <p:cNvSpPr/>
              <p:nvPr/>
            </p:nvSpPr>
            <p:spPr>
              <a:xfrm>
                <a:off x="4970397" y="3662594"/>
                <a:ext cx="104419" cy="94867"/>
              </a:xfrm>
              <a:custGeom>
                <a:rect b="b" l="l" r="r" t="t"/>
                <a:pathLst>
                  <a:path extrusionOk="0" h="5959" w="6559">
                    <a:moveTo>
                      <a:pt x="3287" y="0"/>
                    </a:moveTo>
                    <a:cubicBezTo>
                      <a:pt x="1942" y="0"/>
                      <a:pt x="709" y="919"/>
                      <a:pt x="383" y="2279"/>
                    </a:cubicBezTo>
                    <a:cubicBezTo>
                      <a:pt x="1" y="3903"/>
                      <a:pt x="1019" y="5494"/>
                      <a:pt x="2611" y="5876"/>
                    </a:cubicBezTo>
                    <a:cubicBezTo>
                      <a:pt x="2842" y="5932"/>
                      <a:pt x="3074" y="5958"/>
                      <a:pt x="3302" y="5958"/>
                    </a:cubicBezTo>
                    <a:cubicBezTo>
                      <a:pt x="4648" y="5958"/>
                      <a:pt x="5882" y="5036"/>
                      <a:pt x="6208" y="3648"/>
                    </a:cubicBezTo>
                    <a:cubicBezTo>
                      <a:pt x="6559" y="2056"/>
                      <a:pt x="5572" y="464"/>
                      <a:pt x="3980" y="82"/>
                    </a:cubicBezTo>
                    <a:cubicBezTo>
                      <a:pt x="3748" y="27"/>
                      <a:pt x="3516" y="0"/>
                      <a:pt x="32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31"/>
              <p:cNvSpPr/>
              <p:nvPr/>
            </p:nvSpPr>
            <p:spPr>
              <a:xfrm>
                <a:off x="5179738" y="3662498"/>
                <a:ext cx="104419" cy="95042"/>
              </a:xfrm>
              <a:custGeom>
                <a:rect b="b" l="l" r="r" t="t"/>
                <a:pathLst>
                  <a:path extrusionOk="0" h="5970" w="6559">
                    <a:moveTo>
                      <a:pt x="3279" y="1"/>
                    </a:moveTo>
                    <a:cubicBezTo>
                      <a:pt x="2515" y="1"/>
                      <a:pt x="1751" y="295"/>
                      <a:pt x="1178" y="884"/>
                    </a:cubicBezTo>
                    <a:cubicBezTo>
                      <a:pt x="0" y="2030"/>
                      <a:pt x="0" y="3940"/>
                      <a:pt x="1178" y="5086"/>
                    </a:cubicBezTo>
                    <a:cubicBezTo>
                      <a:pt x="1751" y="5675"/>
                      <a:pt x="2515" y="5970"/>
                      <a:pt x="3279" y="5970"/>
                    </a:cubicBezTo>
                    <a:cubicBezTo>
                      <a:pt x="4043" y="5970"/>
                      <a:pt x="4807" y="5675"/>
                      <a:pt x="5380" y="5086"/>
                    </a:cubicBezTo>
                    <a:cubicBezTo>
                      <a:pt x="6558" y="3940"/>
                      <a:pt x="6558" y="2030"/>
                      <a:pt x="5380" y="884"/>
                    </a:cubicBezTo>
                    <a:cubicBezTo>
                      <a:pt x="4807" y="295"/>
                      <a:pt x="4043" y="1"/>
                      <a:pt x="3279" y="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31"/>
              <p:cNvSpPr/>
              <p:nvPr/>
            </p:nvSpPr>
            <p:spPr>
              <a:xfrm>
                <a:off x="4881187" y="2983683"/>
                <a:ext cx="492135" cy="715110"/>
              </a:xfrm>
              <a:custGeom>
                <a:rect b="b" l="l" r="r" t="t"/>
                <a:pathLst>
                  <a:path extrusionOk="0" h="44919" w="30913">
                    <a:moveTo>
                      <a:pt x="5253" y="0"/>
                    </a:moveTo>
                    <a:cubicBezTo>
                      <a:pt x="2356" y="0"/>
                      <a:pt x="1" y="2356"/>
                      <a:pt x="1" y="5253"/>
                    </a:cubicBezTo>
                    <a:lnTo>
                      <a:pt x="1" y="39634"/>
                    </a:lnTo>
                    <a:cubicBezTo>
                      <a:pt x="1" y="42563"/>
                      <a:pt x="2356" y="44919"/>
                      <a:pt x="5253" y="44919"/>
                    </a:cubicBezTo>
                    <a:lnTo>
                      <a:pt x="25660" y="44919"/>
                    </a:lnTo>
                    <a:cubicBezTo>
                      <a:pt x="28588" y="44919"/>
                      <a:pt x="30912" y="42563"/>
                      <a:pt x="30912" y="39634"/>
                    </a:cubicBezTo>
                    <a:lnTo>
                      <a:pt x="30912" y="5253"/>
                    </a:lnTo>
                    <a:cubicBezTo>
                      <a:pt x="30912" y="2356"/>
                      <a:pt x="28588" y="0"/>
                      <a:pt x="25660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31"/>
              <p:cNvSpPr/>
              <p:nvPr/>
            </p:nvSpPr>
            <p:spPr>
              <a:xfrm>
                <a:off x="4965843" y="3096713"/>
                <a:ext cx="17751" cy="494157"/>
              </a:xfrm>
              <a:custGeom>
                <a:rect b="b" l="l" r="r" t="t"/>
                <a:pathLst>
                  <a:path extrusionOk="0" fill="none" h="31040" w="1115">
                    <a:moveTo>
                      <a:pt x="0" y="0"/>
                    </a:moveTo>
                    <a:lnTo>
                      <a:pt x="1114" y="0"/>
                    </a:lnTo>
                    <a:lnTo>
                      <a:pt x="1114" y="31039"/>
                    </a:lnTo>
                    <a:lnTo>
                      <a:pt x="0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31"/>
              <p:cNvSpPr/>
              <p:nvPr/>
            </p:nvSpPr>
            <p:spPr>
              <a:xfrm>
                <a:off x="5061136" y="3096713"/>
                <a:ext cx="18260" cy="494157"/>
              </a:xfrm>
              <a:custGeom>
                <a:rect b="b" l="l" r="r" t="t"/>
                <a:pathLst>
                  <a:path extrusionOk="0" fill="none" h="31040" w="1147">
                    <a:moveTo>
                      <a:pt x="0" y="0"/>
                    </a:moveTo>
                    <a:lnTo>
                      <a:pt x="1146" y="0"/>
                    </a:lnTo>
                    <a:lnTo>
                      <a:pt x="1146" y="31039"/>
                    </a:lnTo>
                    <a:lnTo>
                      <a:pt x="0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31"/>
              <p:cNvSpPr/>
              <p:nvPr/>
            </p:nvSpPr>
            <p:spPr>
              <a:xfrm>
                <a:off x="5156922" y="3096713"/>
                <a:ext cx="17767" cy="494157"/>
              </a:xfrm>
              <a:custGeom>
                <a:rect b="b" l="l" r="r" t="t"/>
                <a:pathLst>
                  <a:path extrusionOk="0" fill="none" h="31040" w="1116">
                    <a:moveTo>
                      <a:pt x="1" y="0"/>
                    </a:moveTo>
                    <a:lnTo>
                      <a:pt x="1115" y="0"/>
                    </a:lnTo>
                    <a:lnTo>
                      <a:pt x="1115" y="31039"/>
                    </a:lnTo>
                    <a:lnTo>
                      <a:pt x="1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31"/>
              <p:cNvSpPr/>
              <p:nvPr/>
            </p:nvSpPr>
            <p:spPr>
              <a:xfrm>
                <a:off x="5252214" y="3096713"/>
                <a:ext cx="18260" cy="494157"/>
              </a:xfrm>
              <a:custGeom>
                <a:rect b="b" l="l" r="r" t="t"/>
                <a:pathLst>
                  <a:path extrusionOk="0" fill="none" h="31040" w="1147">
                    <a:moveTo>
                      <a:pt x="1" y="0"/>
                    </a:moveTo>
                    <a:lnTo>
                      <a:pt x="1147" y="0"/>
                    </a:lnTo>
                    <a:lnTo>
                      <a:pt x="1147" y="31039"/>
                    </a:lnTo>
                    <a:lnTo>
                      <a:pt x="1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9" name="Google Shape;399;p31"/>
          <p:cNvSpPr/>
          <p:nvPr/>
        </p:nvSpPr>
        <p:spPr>
          <a:xfrm>
            <a:off x="4572000" y="3757154"/>
            <a:ext cx="4281047" cy="16"/>
          </a:xfrm>
          <a:custGeom>
            <a:rect b="b" l="l" r="r" t="t"/>
            <a:pathLst>
              <a:path extrusionOk="0" fill="none" h="1" w="268910">
                <a:moveTo>
                  <a:pt x="0" y="1"/>
                </a:moveTo>
                <a:lnTo>
                  <a:pt x="268910" y="1"/>
                </a:lnTo>
              </a:path>
            </a:pathLst>
          </a:custGeom>
          <a:noFill/>
          <a:ln cap="rnd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"/>
          <p:cNvSpPr/>
          <p:nvPr/>
        </p:nvSpPr>
        <p:spPr>
          <a:xfrm flipH="1">
            <a:off x="1116692" y="2867950"/>
            <a:ext cx="939896" cy="598251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 flipH="1">
            <a:off x="4817392" y="1401950"/>
            <a:ext cx="939896" cy="598251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2"/>
          <p:cNvSpPr/>
          <p:nvPr/>
        </p:nvSpPr>
        <p:spPr>
          <a:xfrm flipH="1">
            <a:off x="4817392" y="2867950"/>
            <a:ext cx="939896" cy="598251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2"/>
          <p:cNvSpPr/>
          <p:nvPr/>
        </p:nvSpPr>
        <p:spPr>
          <a:xfrm flipH="1">
            <a:off x="1116692" y="1401950"/>
            <a:ext cx="939896" cy="598251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2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09" name="Google Shape;409;p32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10" name="Google Shape;410;p32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Problems stated and its relevance</a:t>
            </a:r>
            <a:endParaRPr/>
          </a:p>
        </p:txBody>
      </p:sp>
      <p:sp>
        <p:nvSpPr>
          <p:cNvPr id="411" name="Google Shape;411;p32"/>
          <p:cNvSpPr txBox="1"/>
          <p:nvPr>
            <p:ph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12" name="Google Shape;412;p32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413" name="Google Shape;413;p32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sources, methods, and tools used</a:t>
            </a:r>
            <a:endParaRPr/>
          </a:p>
        </p:txBody>
      </p:sp>
      <p:sp>
        <p:nvSpPr>
          <p:cNvPr id="414" name="Google Shape;414;p32"/>
          <p:cNvSpPr txBox="1"/>
          <p:nvPr>
            <p:ph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15" name="Google Shape;415;p32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416" name="Google Shape;416;p32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insights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Visual dashboard</a:t>
            </a:r>
            <a:endParaRPr/>
          </a:p>
        </p:txBody>
      </p:sp>
      <p:sp>
        <p:nvSpPr>
          <p:cNvPr id="417" name="Google Shape;417;p32"/>
          <p:cNvSpPr txBox="1"/>
          <p:nvPr>
            <p:ph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18" name="Google Shape;418;p32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Impacts and recommendations</a:t>
            </a:r>
            <a:endParaRPr/>
          </a:p>
        </p:txBody>
      </p:sp>
      <p:sp>
        <p:nvSpPr>
          <p:cNvPr id="419" name="Google Shape;419;p32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Strategic impact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Actionable recommendation</a:t>
            </a:r>
            <a:endParaRPr/>
          </a:p>
        </p:txBody>
      </p:sp>
      <p:sp>
        <p:nvSpPr>
          <p:cNvPr id="420" name="Google Shape;420;p32"/>
          <p:cNvSpPr txBox="1"/>
          <p:nvPr>
            <p:ph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33"/>
          <p:cNvGrpSpPr/>
          <p:nvPr/>
        </p:nvGrpSpPr>
        <p:grpSpPr>
          <a:xfrm>
            <a:off x="6653152" y="980640"/>
            <a:ext cx="4049264" cy="3710121"/>
            <a:chOff x="4829606" y="489789"/>
            <a:chExt cx="4221501" cy="3867933"/>
          </a:xfrm>
        </p:grpSpPr>
        <p:sp>
          <p:nvSpPr>
            <p:cNvPr id="426" name="Google Shape;426;p33"/>
            <p:cNvSpPr/>
            <p:nvPr/>
          </p:nvSpPr>
          <p:spPr>
            <a:xfrm>
              <a:off x="5375598" y="499389"/>
              <a:ext cx="1130033" cy="709955"/>
            </a:xfrm>
            <a:custGeom>
              <a:rect b="b" l="l" r="r" t="t"/>
              <a:pathLst>
                <a:path extrusionOk="0" h="42297" w="67324">
                  <a:moveTo>
                    <a:pt x="34540" y="1"/>
                  </a:moveTo>
                  <a:cubicBezTo>
                    <a:pt x="30453" y="1"/>
                    <a:pt x="0" y="802"/>
                    <a:pt x="4775" y="24785"/>
                  </a:cubicBezTo>
                  <a:cubicBezTo>
                    <a:pt x="7271" y="37228"/>
                    <a:pt x="17768" y="42297"/>
                    <a:pt x="28964" y="42297"/>
                  </a:cubicBezTo>
                  <a:cubicBezTo>
                    <a:pt x="40891" y="42297"/>
                    <a:pt x="53611" y="36543"/>
                    <a:pt x="58291" y="27822"/>
                  </a:cubicBezTo>
                  <a:cubicBezTo>
                    <a:pt x="67324" y="10876"/>
                    <a:pt x="51017" y="325"/>
                    <a:pt x="34990" y="5"/>
                  </a:cubicBezTo>
                  <a:cubicBezTo>
                    <a:pt x="34990" y="5"/>
                    <a:pt x="34832" y="1"/>
                    <a:pt x="34540" y="1"/>
                  </a:cubicBezTo>
                  <a:close/>
                </a:path>
              </a:pathLst>
            </a:custGeom>
            <a:solidFill>
              <a:srgbClr val="D9D2E9"/>
            </a:solidFill>
            <a:ln>
              <a:noFill/>
            </a:ln>
          </p:spPr>
          <p:txBody>
            <a:bodyPr anchorCtr="0" anchor="ctr" bIns="87700" lIns="87700" spcFirstLastPara="1" rIns="87700" wrap="square" tIns="87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5044693" y="981767"/>
              <a:ext cx="3791681" cy="2756718"/>
            </a:xfrm>
            <a:custGeom>
              <a:rect b="b" l="l" r="r" t="t"/>
              <a:pathLst>
                <a:path extrusionOk="0" h="164237" w="225897">
                  <a:moveTo>
                    <a:pt x="137398" y="0"/>
                  </a:moveTo>
                  <a:cubicBezTo>
                    <a:pt x="125811" y="0"/>
                    <a:pt x="113248" y="5064"/>
                    <a:pt x="100199" y="19831"/>
                  </a:cubicBezTo>
                  <a:cubicBezTo>
                    <a:pt x="88688" y="32900"/>
                    <a:pt x="72381" y="40774"/>
                    <a:pt x="54995" y="41733"/>
                  </a:cubicBezTo>
                  <a:lnTo>
                    <a:pt x="54196" y="41773"/>
                  </a:lnTo>
                  <a:cubicBezTo>
                    <a:pt x="37969" y="42492"/>
                    <a:pt x="22982" y="49407"/>
                    <a:pt x="13110" y="59878"/>
                  </a:cubicBezTo>
                  <a:cubicBezTo>
                    <a:pt x="2678" y="70949"/>
                    <a:pt x="0" y="87056"/>
                    <a:pt x="5676" y="101125"/>
                  </a:cubicBezTo>
                  <a:cubicBezTo>
                    <a:pt x="11231" y="114874"/>
                    <a:pt x="24340" y="133658"/>
                    <a:pt x="55115" y="149286"/>
                  </a:cubicBezTo>
                  <a:cubicBezTo>
                    <a:pt x="74903" y="159335"/>
                    <a:pt x="94956" y="164236"/>
                    <a:pt x="113867" y="164236"/>
                  </a:cubicBezTo>
                  <a:cubicBezTo>
                    <a:pt x="148430" y="164236"/>
                    <a:pt x="179178" y="147865"/>
                    <a:pt x="197520" y="116632"/>
                  </a:cubicBezTo>
                  <a:cubicBezTo>
                    <a:pt x="225896" y="68311"/>
                    <a:pt x="198359" y="29623"/>
                    <a:pt x="175497" y="14795"/>
                  </a:cubicBezTo>
                  <a:cubicBezTo>
                    <a:pt x="164990" y="8005"/>
                    <a:pt x="151965" y="0"/>
                    <a:pt x="137398" y="0"/>
                  </a:cubicBezTo>
                  <a:close/>
                </a:path>
              </a:pathLst>
            </a:custGeom>
            <a:solidFill>
              <a:srgbClr val="D9D2E9"/>
            </a:solidFill>
            <a:ln>
              <a:noFill/>
            </a:ln>
          </p:spPr>
          <p:txBody>
            <a:bodyPr anchorCtr="0" anchor="ctr" bIns="87700" lIns="87700" spcFirstLastPara="1" rIns="87700" wrap="square" tIns="87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3"/>
            <p:cNvSpPr/>
            <p:nvPr/>
          </p:nvSpPr>
          <p:spPr>
            <a:xfrm rot="614627">
              <a:off x="5044510" y="804969"/>
              <a:ext cx="3791693" cy="2756727"/>
            </a:xfrm>
            <a:custGeom>
              <a:rect b="b" l="l" r="r" t="t"/>
              <a:pathLst>
                <a:path extrusionOk="0" h="164237" w="225897">
                  <a:moveTo>
                    <a:pt x="137398" y="0"/>
                  </a:moveTo>
                  <a:cubicBezTo>
                    <a:pt x="125811" y="0"/>
                    <a:pt x="113248" y="5064"/>
                    <a:pt x="100199" y="19831"/>
                  </a:cubicBezTo>
                  <a:cubicBezTo>
                    <a:pt x="88688" y="32900"/>
                    <a:pt x="72381" y="40774"/>
                    <a:pt x="54995" y="41733"/>
                  </a:cubicBezTo>
                  <a:lnTo>
                    <a:pt x="54196" y="41773"/>
                  </a:lnTo>
                  <a:cubicBezTo>
                    <a:pt x="37969" y="42492"/>
                    <a:pt x="22982" y="49407"/>
                    <a:pt x="13110" y="59878"/>
                  </a:cubicBezTo>
                  <a:cubicBezTo>
                    <a:pt x="2678" y="70949"/>
                    <a:pt x="0" y="87056"/>
                    <a:pt x="5676" y="101125"/>
                  </a:cubicBezTo>
                  <a:cubicBezTo>
                    <a:pt x="11231" y="114874"/>
                    <a:pt x="24340" y="133658"/>
                    <a:pt x="55115" y="149286"/>
                  </a:cubicBezTo>
                  <a:cubicBezTo>
                    <a:pt x="74903" y="159335"/>
                    <a:pt x="94956" y="164236"/>
                    <a:pt x="113867" y="164236"/>
                  </a:cubicBezTo>
                  <a:cubicBezTo>
                    <a:pt x="148430" y="164236"/>
                    <a:pt x="179178" y="147865"/>
                    <a:pt x="197520" y="116632"/>
                  </a:cubicBezTo>
                  <a:cubicBezTo>
                    <a:pt x="225896" y="68311"/>
                    <a:pt x="198359" y="29623"/>
                    <a:pt x="175497" y="14795"/>
                  </a:cubicBezTo>
                  <a:cubicBezTo>
                    <a:pt x="164990" y="8005"/>
                    <a:pt x="151965" y="0"/>
                    <a:pt x="137398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700" lIns="87700" spcFirstLastPara="1" rIns="87700" wrap="square" tIns="87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9" name="Google Shape;429;p33"/>
            <p:cNvGrpSpPr/>
            <p:nvPr/>
          </p:nvGrpSpPr>
          <p:grpSpPr>
            <a:xfrm>
              <a:off x="4992255" y="1108842"/>
              <a:ext cx="3205932" cy="3248879"/>
              <a:chOff x="4992255" y="1108842"/>
              <a:chExt cx="3205932" cy="3248879"/>
            </a:xfrm>
          </p:grpSpPr>
          <p:sp>
            <p:nvSpPr>
              <p:cNvPr id="430" name="Google Shape;430;p33"/>
              <p:cNvSpPr/>
              <p:nvPr/>
            </p:nvSpPr>
            <p:spPr>
              <a:xfrm>
                <a:off x="6472746" y="2952942"/>
                <a:ext cx="360945" cy="738624"/>
              </a:xfrm>
              <a:custGeom>
                <a:rect b="b" l="l" r="r" t="t"/>
                <a:pathLst>
                  <a:path extrusionOk="0" h="44005" w="21504">
                    <a:moveTo>
                      <a:pt x="6635" y="0"/>
                    </a:moveTo>
                    <a:lnTo>
                      <a:pt x="1" y="44005"/>
                    </a:lnTo>
                    <a:lnTo>
                      <a:pt x="1" y="44005"/>
                    </a:lnTo>
                    <a:lnTo>
                      <a:pt x="9273" y="42366"/>
                    </a:lnTo>
                    <a:lnTo>
                      <a:pt x="21503" y="80"/>
                    </a:lnTo>
                    <a:lnTo>
                      <a:pt x="6635" y="0"/>
                    </a:lnTo>
                    <a:close/>
                  </a:path>
                </a:pathLst>
              </a:custGeom>
              <a:solidFill>
                <a:srgbClr val="D6927E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33"/>
              <p:cNvSpPr/>
              <p:nvPr/>
            </p:nvSpPr>
            <p:spPr>
              <a:xfrm>
                <a:off x="6472746" y="3453380"/>
                <a:ext cx="216711" cy="238162"/>
              </a:xfrm>
              <a:custGeom>
                <a:rect b="b" l="l" r="r" t="t"/>
                <a:pathLst>
                  <a:path extrusionOk="0" h="14189" w="12911">
                    <a:moveTo>
                      <a:pt x="12910" y="0"/>
                    </a:moveTo>
                    <a:lnTo>
                      <a:pt x="1999" y="959"/>
                    </a:lnTo>
                    <a:lnTo>
                      <a:pt x="1" y="14189"/>
                    </a:lnTo>
                    <a:lnTo>
                      <a:pt x="9273" y="12550"/>
                    </a:lnTo>
                    <a:lnTo>
                      <a:pt x="12910" y="0"/>
                    </a:lnTo>
                    <a:close/>
                  </a:path>
                </a:pathLst>
              </a:custGeom>
              <a:solidFill>
                <a:srgbClr val="FDFBF9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3"/>
              <p:cNvSpPr/>
              <p:nvPr/>
            </p:nvSpPr>
            <p:spPr>
              <a:xfrm>
                <a:off x="6437197" y="3643881"/>
                <a:ext cx="504507" cy="205969"/>
              </a:xfrm>
              <a:custGeom>
                <a:rect b="b" l="l" r="r" t="t"/>
                <a:pathLst>
                  <a:path extrusionOk="0" h="12271" w="30057">
                    <a:moveTo>
                      <a:pt x="2359" y="1"/>
                    </a:moveTo>
                    <a:lnTo>
                      <a:pt x="1" y="9873"/>
                    </a:lnTo>
                    <a:lnTo>
                      <a:pt x="29656" y="12271"/>
                    </a:lnTo>
                    <a:cubicBezTo>
                      <a:pt x="30056" y="10433"/>
                      <a:pt x="26779" y="8354"/>
                      <a:pt x="25140" y="7395"/>
                    </a:cubicBezTo>
                    <a:lnTo>
                      <a:pt x="11591" y="561"/>
                    </a:lnTo>
                    <a:lnTo>
                      <a:pt x="2359" y="1"/>
                    </a:lnTo>
                    <a:close/>
                  </a:path>
                </a:pathLst>
              </a:custGeom>
              <a:solidFill>
                <a:srgbClr val="1A170C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3"/>
              <p:cNvSpPr/>
              <p:nvPr/>
            </p:nvSpPr>
            <p:spPr>
              <a:xfrm>
                <a:off x="6743322" y="3740021"/>
                <a:ext cx="208419" cy="125938"/>
              </a:xfrm>
              <a:custGeom>
                <a:rect b="b" l="l" r="r" t="t"/>
                <a:pathLst>
                  <a:path extrusionOk="0" h="7503" w="12417">
                    <a:moveTo>
                      <a:pt x="6280" y="0"/>
                    </a:moveTo>
                    <a:cubicBezTo>
                      <a:pt x="4624" y="0"/>
                      <a:pt x="1" y="593"/>
                      <a:pt x="67" y="7222"/>
                    </a:cubicBezTo>
                    <a:lnTo>
                      <a:pt x="11617" y="7502"/>
                    </a:lnTo>
                    <a:lnTo>
                      <a:pt x="12417" y="3186"/>
                    </a:lnTo>
                    <a:lnTo>
                      <a:pt x="6861" y="28"/>
                    </a:lnTo>
                    <a:cubicBezTo>
                      <a:pt x="6861" y="28"/>
                      <a:pt x="6641" y="0"/>
                      <a:pt x="62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33"/>
              <p:cNvSpPr/>
              <p:nvPr/>
            </p:nvSpPr>
            <p:spPr>
              <a:xfrm>
                <a:off x="6565998" y="3614660"/>
                <a:ext cx="108683" cy="58764"/>
              </a:xfrm>
              <a:custGeom>
                <a:rect b="b" l="l" r="r" t="t"/>
                <a:pathLst>
                  <a:path extrusionOk="0" h="3501" w="6475">
                    <a:moveTo>
                      <a:pt x="3767" y="1"/>
                    </a:moveTo>
                    <a:cubicBezTo>
                      <a:pt x="2969" y="1"/>
                      <a:pt x="2202" y="355"/>
                      <a:pt x="1679" y="983"/>
                    </a:cubicBezTo>
                    <a:lnTo>
                      <a:pt x="0" y="2981"/>
                    </a:lnTo>
                    <a:lnTo>
                      <a:pt x="6315" y="3501"/>
                    </a:lnTo>
                    <a:lnTo>
                      <a:pt x="6355" y="3021"/>
                    </a:lnTo>
                    <a:cubicBezTo>
                      <a:pt x="6475" y="1622"/>
                      <a:pt x="5676" y="143"/>
                      <a:pt x="4117" y="23"/>
                    </a:cubicBezTo>
                    <a:cubicBezTo>
                      <a:pt x="4000" y="8"/>
                      <a:pt x="3883" y="1"/>
                      <a:pt x="3767" y="1"/>
                    </a:cubicBezTo>
                    <a:close/>
                  </a:path>
                </a:pathLst>
              </a:custGeom>
              <a:solidFill>
                <a:srgbClr val="1A170C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33"/>
              <p:cNvSpPr/>
              <p:nvPr/>
            </p:nvSpPr>
            <p:spPr>
              <a:xfrm>
                <a:off x="6431826" y="3778054"/>
                <a:ext cx="502493" cy="97957"/>
              </a:xfrm>
              <a:custGeom>
                <a:rect b="b" l="l" r="r" t="t"/>
                <a:pathLst>
                  <a:path extrusionOk="0" h="5836" w="29937">
                    <a:moveTo>
                      <a:pt x="680" y="0"/>
                    </a:moveTo>
                    <a:lnTo>
                      <a:pt x="1" y="3438"/>
                    </a:lnTo>
                    <a:lnTo>
                      <a:pt x="29817" y="5836"/>
                    </a:lnTo>
                    <a:lnTo>
                      <a:pt x="29936" y="4277"/>
                    </a:lnTo>
                    <a:lnTo>
                      <a:pt x="6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33"/>
              <p:cNvSpPr/>
              <p:nvPr/>
            </p:nvSpPr>
            <p:spPr>
              <a:xfrm>
                <a:off x="6685400" y="3704388"/>
                <a:ext cx="59721" cy="27057"/>
              </a:xfrm>
              <a:custGeom>
                <a:rect b="b" l="l" r="r" t="t"/>
                <a:pathLst>
                  <a:path extrusionOk="0" h="1612" w="3558">
                    <a:moveTo>
                      <a:pt x="2856" y="1"/>
                    </a:moveTo>
                    <a:cubicBezTo>
                      <a:pt x="1800" y="1"/>
                      <a:pt x="811" y="432"/>
                      <a:pt x="120" y="1192"/>
                    </a:cubicBezTo>
                    <a:cubicBezTo>
                      <a:pt x="0" y="1272"/>
                      <a:pt x="0" y="1432"/>
                      <a:pt x="120" y="1552"/>
                    </a:cubicBezTo>
                    <a:cubicBezTo>
                      <a:pt x="160" y="1592"/>
                      <a:pt x="220" y="1612"/>
                      <a:pt x="280" y="1612"/>
                    </a:cubicBezTo>
                    <a:cubicBezTo>
                      <a:pt x="340" y="1612"/>
                      <a:pt x="400" y="1592"/>
                      <a:pt x="440" y="1552"/>
                    </a:cubicBezTo>
                    <a:cubicBezTo>
                      <a:pt x="1075" y="846"/>
                      <a:pt x="1960" y="452"/>
                      <a:pt x="2901" y="452"/>
                    </a:cubicBezTo>
                    <a:cubicBezTo>
                      <a:pt x="3026" y="452"/>
                      <a:pt x="3152" y="459"/>
                      <a:pt x="3278" y="473"/>
                    </a:cubicBezTo>
                    <a:lnTo>
                      <a:pt x="3398" y="473"/>
                    </a:lnTo>
                    <a:cubicBezTo>
                      <a:pt x="3478" y="433"/>
                      <a:pt x="3518" y="353"/>
                      <a:pt x="3558" y="313"/>
                    </a:cubicBezTo>
                    <a:cubicBezTo>
                      <a:pt x="3558" y="153"/>
                      <a:pt x="3478" y="33"/>
                      <a:pt x="3358" y="33"/>
                    </a:cubicBezTo>
                    <a:cubicBezTo>
                      <a:pt x="3190" y="11"/>
                      <a:pt x="3022" y="1"/>
                      <a:pt x="2856" y="1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33"/>
              <p:cNvSpPr/>
              <p:nvPr/>
            </p:nvSpPr>
            <p:spPr>
              <a:xfrm>
                <a:off x="6657891" y="3690306"/>
                <a:ext cx="59721" cy="27057"/>
              </a:xfrm>
              <a:custGeom>
                <a:rect b="b" l="l" r="r" t="t"/>
                <a:pathLst>
                  <a:path extrusionOk="0" h="1612" w="3558">
                    <a:moveTo>
                      <a:pt x="2856" y="0"/>
                    </a:moveTo>
                    <a:cubicBezTo>
                      <a:pt x="1801" y="0"/>
                      <a:pt x="812" y="432"/>
                      <a:pt x="121" y="1192"/>
                    </a:cubicBezTo>
                    <a:cubicBezTo>
                      <a:pt x="1" y="1272"/>
                      <a:pt x="1" y="1432"/>
                      <a:pt x="121" y="1551"/>
                    </a:cubicBezTo>
                    <a:cubicBezTo>
                      <a:pt x="161" y="1591"/>
                      <a:pt x="221" y="1611"/>
                      <a:pt x="281" y="1611"/>
                    </a:cubicBezTo>
                    <a:cubicBezTo>
                      <a:pt x="341" y="1611"/>
                      <a:pt x="400" y="1591"/>
                      <a:pt x="440" y="1551"/>
                    </a:cubicBezTo>
                    <a:cubicBezTo>
                      <a:pt x="1076" y="846"/>
                      <a:pt x="1960" y="451"/>
                      <a:pt x="2874" y="451"/>
                    </a:cubicBezTo>
                    <a:cubicBezTo>
                      <a:pt x="2995" y="451"/>
                      <a:pt x="3117" y="458"/>
                      <a:pt x="3238" y="472"/>
                    </a:cubicBezTo>
                    <a:cubicBezTo>
                      <a:pt x="3258" y="492"/>
                      <a:pt x="3288" y="502"/>
                      <a:pt x="3318" y="502"/>
                    </a:cubicBezTo>
                    <a:cubicBezTo>
                      <a:pt x="3348" y="502"/>
                      <a:pt x="3378" y="492"/>
                      <a:pt x="3398" y="472"/>
                    </a:cubicBezTo>
                    <a:cubicBezTo>
                      <a:pt x="3478" y="432"/>
                      <a:pt x="3518" y="392"/>
                      <a:pt x="3518" y="312"/>
                    </a:cubicBezTo>
                    <a:cubicBezTo>
                      <a:pt x="3558" y="153"/>
                      <a:pt x="3478" y="33"/>
                      <a:pt x="3358" y="33"/>
                    </a:cubicBezTo>
                    <a:cubicBezTo>
                      <a:pt x="3190" y="11"/>
                      <a:pt x="3022" y="0"/>
                      <a:pt x="285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33"/>
              <p:cNvSpPr/>
              <p:nvPr/>
            </p:nvSpPr>
            <p:spPr>
              <a:xfrm>
                <a:off x="6633621" y="3676879"/>
                <a:ext cx="61198" cy="26856"/>
              </a:xfrm>
              <a:custGeom>
                <a:rect b="b" l="l" r="r" t="t"/>
                <a:pathLst>
                  <a:path extrusionOk="0" h="1600" w="3646">
                    <a:moveTo>
                      <a:pt x="2878" y="1"/>
                    </a:moveTo>
                    <a:cubicBezTo>
                      <a:pt x="1847" y="1"/>
                      <a:pt x="853" y="433"/>
                      <a:pt x="128" y="1192"/>
                    </a:cubicBezTo>
                    <a:cubicBezTo>
                      <a:pt x="1" y="1383"/>
                      <a:pt x="152" y="1599"/>
                      <a:pt x="339" y="1599"/>
                    </a:cubicBezTo>
                    <a:cubicBezTo>
                      <a:pt x="388" y="1599"/>
                      <a:pt x="439" y="1585"/>
                      <a:pt x="488" y="1552"/>
                    </a:cubicBezTo>
                    <a:cubicBezTo>
                      <a:pt x="1123" y="846"/>
                      <a:pt x="2007" y="452"/>
                      <a:pt x="2921" y="452"/>
                    </a:cubicBezTo>
                    <a:cubicBezTo>
                      <a:pt x="3042" y="452"/>
                      <a:pt x="3164" y="459"/>
                      <a:pt x="3285" y="473"/>
                    </a:cubicBezTo>
                    <a:cubicBezTo>
                      <a:pt x="3305" y="493"/>
                      <a:pt x="3325" y="503"/>
                      <a:pt x="3350" y="503"/>
                    </a:cubicBezTo>
                    <a:cubicBezTo>
                      <a:pt x="3375" y="503"/>
                      <a:pt x="3405" y="493"/>
                      <a:pt x="3445" y="473"/>
                    </a:cubicBezTo>
                    <a:cubicBezTo>
                      <a:pt x="3645" y="393"/>
                      <a:pt x="3605" y="73"/>
                      <a:pt x="3365" y="33"/>
                    </a:cubicBezTo>
                    <a:cubicBezTo>
                      <a:pt x="3202" y="12"/>
                      <a:pt x="3040" y="1"/>
                      <a:pt x="2878" y="1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3"/>
              <p:cNvSpPr/>
              <p:nvPr/>
            </p:nvSpPr>
            <p:spPr>
              <a:xfrm>
                <a:off x="6203747" y="2649063"/>
                <a:ext cx="646726" cy="397620"/>
              </a:xfrm>
              <a:custGeom>
                <a:rect b="b" l="l" r="r" t="t"/>
                <a:pathLst>
                  <a:path extrusionOk="0" h="23689" w="38530">
                    <a:moveTo>
                      <a:pt x="22503" y="0"/>
                    </a:moveTo>
                    <a:lnTo>
                      <a:pt x="1" y="7154"/>
                    </a:lnTo>
                    <a:lnTo>
                      <a:pt x="27059" y="22742"/>
                    </a:lnTo>
                    <a:cubicBezTo>
                      <a:pt x="28152" y="23379"/>
                      <a:pt x="29366" y="23688"/>
                      <a:pt x="30574" y="23688"/>
                    </a:cubicBezTo>
                    <a:cubicBezTo>
                      <a:pt x="32547" y="23688"/>
                      <a:pt x="34504" y="22864"/>
                      <a:pt x="35892" y="21303"/>
                    </a:cubicBezTo>
                    <a:cubicBezTo>
                      <a:pt x="38529" y="18385"/>
                      <a:pt x="38250" y="13829"/>
                      <a:pt x="35292" y="11231"/>
                    </a:cubicBezTo>
                    <a:lnTo>
                      <a:pt x="22503" y="0"/>
                    </a:lnTo>
                    <a:close/>
                  </a:path>
                </a:pathLst>
              </a:custGeom>
              <a:solidFill>
                <a:srgbClr val="D6927E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33"/>
              <p:cNvSpPr/>
              <p:nvPr/>
            </p:nvSpPr>
            <p:spPr>
              <a:xfrm>
                <a:off x="5766388" y="2323030"/>
                <a:ext cx="815096" cy="593736"/>
              </a:xfrm>
              <a:custGeom>
                <a:rect b="b" l="l" r="r" t="t"/>
                <a:pathLst>
                  <a:path extrusionOk="0" h="35373" w="48561">
                    <a:moveTo>
                      <a:pt x="9712" y="1"/>
                    </a:moveTo>
                    <a:cubicBezTo>
                      <a:pt x="9712" y="1"/>
                      <a:pt x="0" y="11312"/>
                      <a:pt x="14308" y="22742"/>
                    </a:cubicBezTo>
                    <a:lnTo>
                      <a:pt x="32214" y="35372"/>
                    </a:lnTo>
                    <a:lnTo>
                      <a:pt x="48561" y="19425"/>
                    </a:lnTo>
                    <a:lnTo>
                      <a:pt x="35491" y="7155"/>
                    </a:lnTo>
                    <a:lnTo>
                      <a:pt x="30295" y="4277"/>
                    </a:lnTo>
                    <a:lnTo>
                      <a:pt x="30096" y="4237"/>
                    </a:lnTo>
                    <a:lnTo>
                      <a:pt x="9712" y="1"/>
                    </a:lnTo>
                    <a:close/>
                  </a:path>
                </a:pathLst>
              </a:custGeom>
              <a:solidFill>
                <a:srgbClr val="734993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33"/>
              <p:cNvSpPr/>
              <p:nvPr/>
            </p:nvSpPr>
            <p:spPr>
              <a:xfrm>
                <a:off x="6523736" y="1825344"/>
                <a:ext cx="262987" cy="715796"/>
              </a:xfrm>
              <a:custGeom>
                <a:rect b="b" l="l" r="r" t="t"/>
                <a:pathLst>
                  <a:path extrusionOk="0" h="42645" w="15668">
                    <a:moveTo>
                      <a:pt x="8596" y="0"/>
                    </a:moveTo>
                    <a:cubicBezTo>
                      <a:pt x="8348" y="0"/>
                      <a:pt x="8094" y="12"/>
                      <a:pt x="7834" y="37"/>
                    </a:cubicBezTo>
                    <a:cubicBezTo>
                      <a:pt x="3278" y="476"/>
                      <a:pt x="0" y="4513"/>
                      <a:pt x="480" y="9030"/>
                    </a:cubicBezTo>
                    <a:lnTo>
                      <a:pt x="4037" y="36487"/>
                    </a:lnTo>
                    <a:cubicBezTo>
                      <a:pt x="4457" y="40056"/>
                      <a:pt x="7480" y="42644"/>
                      <a:pt x="10935" y="42644"/>
                    </a:cubicBezTo>
                    <a:cubicBezTo>
                      <a:pt x="11426" y="42644"/>
                      <a:pt x="11927" y="42592"/>
                      <a:pt x="12430" y="42482"/>
                    </a:cubicBezTo>
                    <a:cubicBezTo>
                      <a:pt x="15668" y="41763"/>
                      <a:pt x="15668" y="38885"/>
                      <a:pt x="15588" y="35568"/>
                    </a:cubicBezTo>
                    <a:lnTo>
                      <a:pt x="15388" y="7870"/>
                    </a:lnTo>
                    <a:cubicBezTo>
                      <a:pt x="15237" y="3454"/>
                      <a:pt x="12804" y="0"/>
                      <a:pt x="8596" y="0"/>
                    </a:cubicBezTo>
                    <a:close/>
                  </a:path>
                </a:pathLst>
              </a:custGeom>
              <a:solidFill>
                <a:srgbClr val="D6927E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33"/>
              <p:cNvSpPr/>
              <p:nvPr/>
            </p:nvSpPr>
            <p:spPr>
              <a:xfrm>
                <a:off x="6465378" y="1768831"/>
                <a:ext cx="336103" cy="411350"/>
              </a:xfrm>
              <a:custGeom>
                <a:rect b="b" l="l" r="r" t="t"/>
                <a:pathLst>
                  <a:path extrusionOk="0" h="24507" w="20024">
                    <a:moveTo>
                      <a:pt x="12298" y="0"/>
                    </a:moveTo>
                    <a:cubicBezTo>
                      <a:pt x="10856" y="0"/>
                      <a:pt x="9299" y="231"/>
                      <a:pt x="7714" y="646"/>
                    </a:cubicBezTo>
                    <a:lnTo>
                      <a:pt x="7394" y="726"/>
                    </a:lnTo>
                    <a:cubicBezTo>
                      <a:pt x="2958" y="2085"/>
                      <a:pt x="0" y="6321"/>
                      <a:pt x="360" y="10958"/>
                    </a:cubicBezTo>
                    <a:lnTo>
                      <a:pt x="1199" y="24507"/>
                    </a:lnTo>
                    <a:lnTo>
                      <a:pt x="19824" y="19990"/>
                    </a:lnTo>
                    <a:cubicBezTo>
                      <a:pt x="19824" y="19990"/>
                      <a:pt x="20024" y="8919"/>
                      <a:pt x="19784" y="6242"/>
                    </a:cubicBezTo>
                    <a:cubicBezTo>
                      <a:pt x="19373" y="1754"/>
                      <a:pt x="16273" y="0"/>
                      <a:pt x="12298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33"/>
              <p:cNvSpPr/>
              <p:nvPr/>
            </p:nvSpPr>
            <p:spPr>
              <a:xfrm>
                <a:off x="6574709" y="2332395"/>
                <a:ext cx="678920" cy="277876"/>
              </a:xfrm>
              <a:custGeom>
                <a:rect b="b" l="l" r="r" t="t"/>
                <a:pathLst>
                  <a:path extrusionOk="0" h="16555" w="40448">
                    <a:moveTo>
                      <a:pt x="5384" y="0"/>
                    </a:moveTo>
                    <a:cubicBezTo>
                      <a:pt x="3623" y="0"/>
                      <a:pt x="2181" y="800"/>
                      <a:pt x="1400" y="2920"/>
                    </a:cubicBezTo>
                    <a:cubicBezTo>
                      <a:pt x="1" y="6597"/>
                      <a:pt x="1839" y="10674"/>
                      <a:pt x="5556" y="12033"/>
                    </a:cubicBezTo>
                    <a:lnTo>
                      <a:pt x="38090" y="16469"/>
                    </a:lnTo>
                    <a:cubicBezTo>
                      <a:pt x="38276" y="16528"/>
                      <a:pt x="38444" y="16555"/>
                      <a:pt x="38594" y="16555"/>
                    </a:cubicBezTo>
                    <a:cubicBezTo>
                      <a:pt x="39574" y="16555"/>
                      <a:pt x="39851" y="15398"/>
                      <a:pt x="40128" y="14151"/>
                    </a:cubicBezTo>
                    <a:cubicBezTo>
                      <a:pt x="40448" y="12952"/>
                      <a:pt x="39449" y="11793"/>
                      <a:pt x="38290" y="11273"/>
                    </a:cubicBezTo>
                    <a:lnTo>
                      <a:pt x="9993" y="1241"/>
                    </a:lnTo>
                    <a:cubicBezTo>
                      <a:pt x="8369" y="500"/>
                      <a:pt x="6777" y="0"/>
                      <a:pt x="5384" y="0"/>
                    </a:cubicBezTo>
                    <a:close/>
                  </a:path>
                </a:pathLst>
              </a:custGeom>
              <a:solidFill>
                <a:srgbClr val="D6927E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33"/>
              <p:cNvSpPr/>
              <p:nvPr/>
            </p:nvSpPr>
            <p:spPr>
              <a:xfrm>
                <a:off x="7155640" y="2495538"/>
                <a:ext cx="240193" cy="200413"/>
              </a:xfrm>
              <a:custGeom>
                <a:rect b="b" l="l" r="r" t="t"/>
                <a:pathLst>
                  <a:path extrusionOk="0" h="11940" w="14310">
                    <a:moveTo>
                      <a:pt x="9850" y="0"/>
                    </a:moveTo>
                    <a:cubicBezTo>
                      <a:pt x="9672" y="0"/>
                      <a:pt x="9493" y="11"/>
                      <a:pt x="9313" y="34"/>
                    </a:cubicBezTo>
                    <a:lnTo>
                      <a:pt x="1999" y="994"/>
                    </a:lnTo>
                    <a:lnTo>
                      <a:pt x="1" y="6309"/>
                    </a:lnTo>
                    <a:cubicBezTo>
                      <a:pt x="1" y="6309"/>
                      <a:pt x="5156" y="11185"/>
                      <a:pt x="7515" y="11825"/>
                    </a:cubicBezTo>
                    <a:cubicBezTo>
                      <a:pt x="7809" y="11901"/>
                      <a:pt x="8114" y="11939"/>
                      <a:pt x="8424" y="11939"/>
                    </a:cubicBezTo>
                    <a:cubicBezTo>
                      <a:pt x="10562" y="11939"/>
                      <a:pt x="12967" y="10133"/>
                      <a:pt x="13909" y="6469"/>
                    </a:cubicBezTo>
                    <a:cubicBezTo>
                      <a:pt x="14309" y="4871"/>
                      <a:pt x="14069" y="3232"/>
                      <a:pt x="13230" y="1833"/>
                    </a:cubicBezTo>
                    <a:cubicBezTo>
                      <a:pt x="12488" y="666"/>
                      <a:pt x="11213" y="0"/>
                      <a:pt x="98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33"/>
              <p:cNvSpPr/>
              <p:nvPr/>
            </p:nvSpPr>
            <p:spPr>
              <a:xfrm>
                <a:off x="7112035" y="2495437"/>
                <a:ext cx="77177" cy="81189"/>
              </a:xfrm>
              <a:custGeom>
                <a:rect b="b" l="l" r="r" t="t"/>
                <a:pathLst>
                  <a:path extrusionOk="0" h="4837" w="4598">
                    <a:moveTo>
                      <a:pt x="1919" y="0"/>
                    </a:moveTo>
                    <a:lnTo>
                      <a:pt x="1" y="4517"/>
                    </a:lnTo>
                    <a:lnTo>
                      <a:pt x="4597" y="4837"/>
                    </a:lnTo>
                    <a:lnTo>
                      <a:pt x="4597" y="1000"/>
                    </a:lnTo>
                    <a:lnTo>
                      <a:pt x="19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33"/>
              <p:cNvSpPr/>
              <p:nvPr/>
            </p:nvSpPr>
            <p:spPr>
              <a:xfrm>
                <a:off x="7136825" y="2549063"/>
                <a:ext cx="146969" cy="123554"/>
              </a:xfrm>
              <a:custGeom>
                <a:rect b="b" l="l" r="r" t="t"/>
                <a:pathLst>
                  <a:path extrusionOk="0" h="7361" w="8756">
                    <a:moveTo>
                      <a:pt x="4781" y="0"/>
                    </a:moveTo>
                    <a:cubicBezTo>
                      <a:pt x="1832" y="0"/>
                      <a:pt x="0" y="3398"/>
                      <a:pt x="1841" y="5878"/>
                    </a:cubicBezTo>
                    <a:cubicBezTo>
                      <a:pt x="2597" y="6897"/>
                      <a:pt x="3681" y="7361"/>
                      <a:pt x="4754" y="7361"/>
                    </a:cubicBezTo>
                    <a:cubicBezTo>
                      <a:pt x="6461" y="7361"/>
                      <a:pt x="8141" y="6187"/>
                      <a:pt x="8436" y="4199"/>
                    </a:cubicBezTo>
                    <a:cubicBezTo>
                      <a:pt x="8755" y="2201"/>
                      <a:pt x="7357" y="323"/>
                      <a:pt x="5358" y="43"/>
                    </a:cubicBezTo>
                    <a:cubicBezTo>
                      <a:pt x="5162" y="14"/>
                      <a:pt x="4969" y="0"/>
                      <a:pt x="4781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33"/>
              <p:cNvSpPr/>
              <p:nvPr/>
            </p:nvSpPr>
            <p:spPr>
              <a:xfrm>
                <a:off x="5058670" y="3168988"/>
                <a:ext cx="1170653" cy="1127012"/>
              </a:xfrm>
              <a:custGeom>
                <a:rect b="b" l="l" r="r" t="t"/>
                <a:pathLst>
                  <a:path extrusionOk="0" h="67144" w="69744">
                    <a:moveTo>
                      <a:pt x="36171" y="4914"/>
                    </a:moveTo>
                    <a:cubicBezTo>
                      <a:pt x="52038" y="4914"/>
                      <a:pt x="64868" y="17744"/>
                      <a:pt x="64908" y="33571"/>
                    </a:cubicBezTo>
                    <a:cubicBezTo>
                      <a:pt x="64908" y="45161"/>
                      <a:pt x="57913" y="55633"/>
                      <a:pt x="47202" y="60069"/>
                    </a:cubicBezTo>
                    <a:cubicBezTo>
                      <a:pt x="43650" y="61540"/>
                      <a:pt x="39917" y="62256"/>
                      <a:pt x="36216" y="62256"/>
                    </a:cubicBezTo>
                    <a:cubicBezTo>
                      <a:pt x="28757" y="62256"/>
                      <a:pt x="21424" y="59350"/>
                      <a:pt x="15947" y="53874"/>
                    </a:cubicBezTo>
                    <a:cubicBezTo>
                      <a:pt x="7754" y="45681"/>
                      <a:pt x="5276" y="33331"/>
                      <a:pt x="9712" y="22620"/>
                    </a:cubicBezTo>
                    <a:cubicBezTo>
                      <a:pt x="14149" y="11908"/>
                      <a:pt x="24580" y="4914"/>
                      <a:pt x="36171" y="4914"/>
                    </a:cubicBezTo>
                    <a:close/>
                    <a:moveTo>
                      <a:pt x="36204" y="1"/>
                    </a:moveTo>
                    <a:cubicBezTo>
                      <a:pt x="27469" y="1"/>
                      <a:pt x="18887" y="3413"/>
                      <a:pt x="12470" y="9830"/>
                    </a:cubicBezTo>
                    <a:cubicBezTo>
                      <a:pt x="2878" y="19462"/>
                      <a:pt x="0" y="33890"/>
                      <a:pt x="5196" y="46400"/>
                    </a:cubicBezTo>
                    <a:cubicBezTo>
                      <a:pt x="10392" y="58950"/>
                      <a:pt x="22622" y="67143"/>
                      <a:pt x="36171" y="67143"/>
                    </a:cubicBezTo>
                    <a:cubicBezTo>
                      <a:pt x="54716" y="67103"/>
                      <a:pt x="69744" y="52116"/>
                      <a:pt x="69744" y="33571"/>
                    </a:cubicBezTo>
                    <a:cubicBezTo>
                      <a:pt x="69744" y="20022"/>
                      <a:pt x="61550" y="7752"/>
                      <a:pt x="49040" y="2556"/>
                    </a:cubicBezTo>
                    <a:cubicBezTo>
                      <a:pt x="44886" y="836"/>
                      <a:pt x="40527" y="1"/>
                      <a:pt x="362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33"/>
              <p:cNvSpPr/>
              <p:nvPr/>
            </p:nvSpPr>
            <p:spPr>
              <a:xfrm>
                <a:off x="4992255" y="3107927"/>
                <a:ext cx="1298790" cy="1249794"/>
              </a:xfrm>
              <a:custGeom>
                <a:rect b="b" l="l" r="r" t="t"/>
                <a:pathLst>
                  <a:path extrusionOk="0" h="74459" w="77378">
                    <a:moveTo>
                      <a:pt x="40128" y="5394"/>
                    </a:moveTo>
                    <a:cubicBezTo>
                      <a:pt x="57714" y="5434"/>
                      <a:pt x="71942" y="19663"/>
                      <a:pt x="71942" y="37209"/>
                    </a:cubicBezTo>
                    <a:cubicBezTo>
                      <a:pt x="71942" y="50078"/>
                      <a:pt x="64188" y="61669"/>
                      <a:pt x="52318" y="66625"/>
                    </a:cubicBezTo>
                    <a:cubicBezTo>
                      <a:pt x="48377" y="68251"/>
                      <a:pt x="44244" y="69042"/>
                      <a:pt x="40147" y="69042"/>
                    </a:cubicBezTo>
                    <a:cubicBezTo>
                      <a:pt x="31861" y="69042"/>
                      <a:pt x="23724" y="65808"/>
                      <a:pt x="17626" y="59710"/>
                    </a:cubicBezTo>
                    <a:cubicBezTo>
                      <a:pt x="8554" y="50598"/>
                      <a:pt x="5836" y="36929"/>
                      <a:pt x="10752" y="25059"/>
                    </a:cubicBezTo>
                    <a:cubicBezTo>
                      <a:pt x="15668" y="13148"/>
                      <a:pt x="27258" y="5394"/>
                      <a:pt x="40128" y="5394"/>
                    </a:cubicBezTo>
                    <a:close/>
                    <a:moveTo>
                      <a:pt x="40140" y="0"/>
                    </a:moveTo>
                    <a:cubicBezTo>
                      <a:pt x="30455" y="0"/>
                      <a:pt x="20936" y="3776"/>
                      <a:pt x="13829" y="10910"/>
                    </a:cubicBezTo>
                    <a:cubicBezTo>
                      <a:pt x="3158" y="21541"/>
                      <a:pt x="1" y="37568"/>
                      <a:pt x="5756" y="51477"/>
                    </a:cubicBezTo>
                    <a:cubicBezTo>
                      <a:pt x="11511" y="65386"/>
                      <a:pt x="25100" y="74458"/>
                      <a:pt x="40128" y="74458"/>
                    </a:cubicBezTo>
                    <a:cubicBezTo>
                      <a:pt x="60711" y="74418"/>
                      <a:pt x="77338" y="57752"/>
                      <a:pt x="77378" y="37209"/>
                    </a:cubicBezTo>
                    <a:cubicBezTo>
                      <a:pt x="77378" y="22141"/>
                      <a:pt x="68305" y="8592"/>
                      <a:pt x="54396" y="2837"/>
                    </a:cubicBezTo>
                    <a:cubicBezTo>
                      <a:pt x="49786" y="929"/>
                      <a:pt x="44942" y="0"/>
                      <a:pt x="40140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33"/>
              <p:cNvSpPr/>
              <p:nvPr/>
            </p:nvSpPr>
            <p:spPr>
              <a:xfrm>
                <a:off x="6965795" y="3168988"/>
                <a:ext cx="1170670" cy="1127012"/>
              </a:xfrm>
              <a:custGeom>
                <a:rect b="b" l="l" r="r" t="t"/>
                <a:pathLst>
                  <a:path extrusionOk="0" h="67144" w="69745">
                    <a:moveTo>
                      <a:pt x="36211" y="4914"/>
                    </a:moveTo>
                    <a:cubicBezTo>
                      <a:pt x="52039" y="4914"/>
                      <a:pt x="64828" y="17744"/>
                      <a:pt x="64868" y="33571"/>
                    </a:cubicBezTo>
                    <a:cubicBezTo>
                      <a:pt x="64868" y="45161"/>
                      <a:pt x="57874" y="55633"/>
                      <a:pt x="47163" y="60069"/>
                    </a:cubicBezTo>
                    <a:cubicBezTo>
                      <a:pt x="43610" y="61540"/>
                      <a:pt x="39878" y="62256"/>
                      <a:pt x="36177" y="62256"/>
                    </a:cubicBezTo>
                    <a:cubicBezTo>
                      <a:pt x="28717" y="62256"/>
                      <a:pt x="21384" y="59350"/>
                      <a:pt x="15908" y="53874"/>
                    </a:cubicBezTo>
                    <a:cubicBezTo>
                      <a:pt x="7715" y="45641"/>
                      <a:pt x="5237" y="33331"/>
                      <a:pt x="9713" y="22620"/>
                    </a:cubicBezTo>
                    <a:cubicBezTo>
                      <a:pt x="14149" y="11868"/>
                      <a:pt x="24581" y="4914"/>
                      <a:pt x="36211" y="4914"/>
                    </a:cubicBezTo>
                    <a:close/>
                    <a:moveTo>
                      <a:pt x="36205" y="1"/>
                    </a:moveTo>
                    <a:cubicBezTo>
                      <a:pt x="27469" y="1"/>
                      <a:pt x="18888" y="3413"/>
                      <a:pt x="12471" y="9830"/>
                    </a:cubicBezTo>
                    <a:cubicBezTo>
                      <a:pt x="2879" y="19462"/>
                      <a:pt x="1" y="33890"/>
                      <a:pt x="5197" y="46440"/>
                    </a:cubicBezTo>
                    <a:cubicBezTo>
                      <a:pt x="10392" y="58950"/>
                      <a:pt x="22622" y="67143"/>
                      <a:pt x="36211" y="67143"/>
                    </a:cubicBezTo>
                    <a:cubicBezTo>
                      <a:pt x="54716" y="67103"/>
                      <a:pt x="69744" y="52116"/>
                      <a:pt x="69744" y="33571"/>
                    </a:cubicBezTo>
                    <a:cubicBezTo>
                      <a:pt x="69744" y="20022"/>
                      <a:pt x="61551" y="7752"/>
                      <a:pt x="49041" y="2556"/>
                    </a:cubicBezTo>
                    <a:cubicBezTo>
                      <a:pt x="44887" y="836"/>
                      <a:pt x="40527" y="1"/>
                      <a:pt x="362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33"/>
              <p:cNvSpPr/>
              <p:nvPr/>
            </p:nvSpPr>
            <p:spPr>
              <a:xfrm>
                <a:off x="6899398" y="3107927"/>
                <a:ext cx="1298790" cy="1249794"/>
              </a:xfrm>
              <a:custGeom>
                <a:rect b="b" l="l" r="r" t="t"/>
                <a:pathLst>
                  <a:path extrusionOk="0" h="74459" w="77378">
                    <a:moveTo>
                      <a:pt x="40167" y="5394"/>
                    </a:moveTo>
                    <a:cubicBezTo>
                      <a:pt x="57713" y="5434"/>
                      <a:pt x="71942" y="19663"/>
                      <a:pt x="71942" y="37209"/>
                    </a:cubicBezTo>
                    <a:cubicBezTo>
                      <a:pt x="71942" y="50078"/>
                      <a:pt x="64228" y="61669"/>
                      <a:pt x="52318" y="66625"/>
                    </a:cubicBezTo>
                    <a:cubicBezTo>
                      <a:pt x="48390" y="68251"/>
                      <a:pt x="44261" y="69042"/>
                      <a:pt x="40165" y="69042"/>
                    </a:cubicBezTo>
                    <a:cubicBezTo>
                      <a:pt x="31883" y="69042"/>
                      <a:pt x="23736" y="65808"/>
                      <a:pt x="17666" y="59710"/>
                    </a:cubicBezTo>
                    <a:cubicBezTo>
                      <a:pt x="8553" y="50598"/>
                      <a:pt x="5835" y="36929"/>
                      <a:pt x="10751" y="25059"/>
                    </a:cubicBezTo>
                    <a:cubicBezTo>
                      <a:pt x="15667" y="13148"/>
                      <a:pt x="27298" y="5394"/>
                      <a:pt x="40167" y="5394"/>
                    </a:cubicBezTo>
                    <a:close/>
                    <a:moveTo>
                      <a:pt x="40139" y="0"/>
                    </a:moveTo>
                    <a:cubicBezTo>
                      <a:pt x="30454" y="0"/>
                      <a:pt x="20936" y="3776"/>
                      <a:pt x="13829" y="10910"/>
                    </a:cubicBezTo>
                    <a:cubicBezTo>
                      <a:pt x="3198" y="21541"/>
                      <a:pt x="0" y="37568"/>
                      <a:pt x="5755" y="51477"/>
                    </a:cubicBezTo>
                    <a:cubicBezTo>
                      <a:pt x="11511" y="65386"/>
                      <a:pt x="25100" y="74458"/>
                      <a:pt x="40167" y="74458"/>
                    </a:cubicBezTo>
                    <a:cubicBezTo>
                      <a:pt x="60711" y="74418"/>
                      <a:pt x="77337" y="57752"/>
                      <a:pt x="77377" y="37209"/>
                    </a:cubicBezTo>
                    <a:cubicBezTo>
                      <a:pt x="77377" y="22141"/>
                      <a:pt x="68305" y="8592"/>
                      <a:pt x="54396" y="2837"/>
                    </a:cubicBezTo>
                    <a:cubicBezTo>
                      <a:pt x="49785" y="929"/>
                      <a:pt x="44942" y="0"/>
                      <a:pt x="40139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33"/>
              <p:cNvSpPr/>
              <p:nvPr/>
            </p:nvSpPr>
            <p:spPr>
              <a:xfrm>
                <a:off x="6476103" y="3011972"/>
                <a:ext cx="764792" cy="741981"/>
              </a:xfrm>
              <a:custGeom>
                <a:rect b="b" l="l" r="r" t="t"/>
                <a:pathLst>
                  <a:path extrusionOk="0" h="44205" w="45564">
                    <a:moveTo>
                      <a:pt x="40488" y="1"/>
                    </a:moveTo>
                    <a:lnTo>
                      <a:pt x="1" y="38969"/>
                    </a:lnTo>
                    <a:lnTo>
                      <a:pt x="5037" y="44205"/>
                    </a:lnTo>
                    <a:lnTo>
                      <a:pt x="45564" y="5276"/>
                    </a:lnTo>
                    <a:lnTo>
                      <a:pt x="40488" y="1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33"/>
              <p:cNvSpPr/>
              <p:nvPr/>
            </p:nvSpPr>
            <p:spPr>
              <a:xfrm>
                <a:off x="7100639" y="3012643"/>
                <a:ext cx="140222" cy="156990"/>
              </a:xfrm>
              <a:custGeom>
                <a:rect b="b" l="l" r="r" t="t"/>
                <a:pathLst>
                  <a:path extrusionOk="0" h="9353" w="8354">
                    <a:moveTo>
                      <a:pt x="3278" y="0"/>
                    </a:moveTo>
                    <a:lnTo>
                      <a:pt x="0" y="3118"/>
                    </a:lnTo>
                    <a:lnTo>
                      <a:pt x="4077" y="9353"/>
                    </a:lnTo>
                    <a:lnTo>
                      <a:pt x="8354" y="5236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D49200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33"/>
              <p:cNvSpPr/>
              <p:nvPr/>
            </p:nvSpPr>
            <p:spPr>
              <a:xfrm>
                <a:off x="6963781" y="2585887"/>
                <a:ext cx="151636" cy="309398"/>
              </a:xfrm>
              <a:custGeom>
                <a:rect b="b" l="l" r="r" t="t"/>
                <a:pathLst>
                  <a:path extrusionOk="0" h="18433" w="9034">
                    <a:moveTo>
                      <a:pt x="5458" y="0"/>
                    </a:moveTo>
                    <a:cubicBezTo>
                      <a:pt x="5149" y="0"/>
                      <a:pt x="4825" y="109"/>
                      <a:pt x="4517" y="367"/>
                    </a:cubicBezTo>
                    <a:lnTo>
                      <a:pt x="1919" y="2645"/>
                    </a:lnTo>
                    <a:cubicBezTo>
                      <a:pt x="441" y="3924"/>
                      <a:pt x="1" y="6042"/>
                      <a:pt x="840" y="7801"/>
                    </a:cubicBezTo>
                    <a:lnTo>
                      <a:pt x="6076" y="17673"/>
                    </a:lnTo>
                    <a:cubicBezTo>
                      <a:pt x="6316" y="18112"/>
                      <a:pt x="6835" y="18432"/>
                      <a:pt x="7355" y="18432"/>
                    </a:cubicBezTo>
                    <a:cubicBezTo>
                      <a:pt x="7595" y="18432"/>
                      <a:pt x="7835" y="18352"/>
                      <a:pt x="8074" y="18272"/>
                    </a:cubicBezTo>
                    <a:cubicBezTo>
                      <a:pt x="8754" y="17873"/>
                      <a:pt x="9034" y="16993"/>
                      <a:pt x="8674" y="16274"/>
                    </a:cubicBezTo>
                    <a:lnTo>
                      <a:pt x="3438" y="6522"/>
                    </a:lnTo>
                    <a:cubicBezTo>
                      <a:pt x="3198" y="5922"/>
                      <a:pt x="3318" y="5243"/>
                      <a:pt x="3798" y="4843"/>
                    </a:cubicBezTo>
                    <a:lnTo>
                      <a:pt x="6436" y="2565"/>
                    </a:lnTo>
                    <a:cubicBezTo>
                      <a:pt x="7575" y="1584"/>
                      <a:pt x="6634" y="0"/>
                      <a:pt x="5458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33"/>
              <p:cNvSpPr/>
              <p:nvPr/>
            </p:nvSpPr>
            <p:spPr>
              <a:xfrm>
                <a:off x="7034895" y="2819440"/>
                <a:ext cx="570237" cy="931165"/>
              </a:xfrm>
              <a:custGeom>
                <a:rect b="b" l="l" r="r" t="t"/>
                <a:pathLst>
                  <a:path extrusionOk="0" h="55476" w="33973">
                    <a:moveTo>
                      <a:pt x="3797" y="1"/>
                    </a:moveTo>
                    <a:lnTo>
                      <a:pt x="1" y="2159"/>
                    </a:lnTo>
                    <a:lnTo>
                      <a:pt x="30176" y="55476"/>
                    </a:lnTo>
                    <a:lnTo>
                      <a:pt x="33973" y="53358"/>
                    </a:lnTo>
                    <a:lnTo>
                      <a:pt x="3797" y="1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33"/>
              <p:cNvSpPr/>
              <p:nvPr/>
            </p:nvSpPr>
            <p:spPr>
              <a:xfrm>
                <a:off x="7423296" y="3620265"/>
                <a:ext cx="262316" cy="224231"/>
              </a:xfrm>
              <a:custGeom>
                <a:rect b="b" l="l" r="r" t="t"/>
                <a:pathLst>
                  <a:path extrusionOk="0" h="13359" w="15628">
                    <a:moveTo>
                      <a:pt x="8897" y="0"/>
                    </a:moveTo>
                    <a:cubicBezTo>
                      <a:pt x="7250" y="0"/>
                      <a:pt x="5569" y="609"/>
                      <a:pt x="4197" y="1968"/>
                    </a:cubicBezTo>
                    <a:cubicBezTo>
                      <a:pt x="1" y="6164"/>
                      <a:pt x="2998" y="13358"/>
                      <a:pt x="8953" y="13358"/>
                    </a:cubicBezTo>
                    <a:cubicBezTo>
                      <a:pt x="12630" y="13358"/>
                      <a:pt x="15588" y="10361"/>
                      <a:pt x="15628" y="6684"/>
                    </a:cubicBezTo>
                    <a:cubicBezTo>
                      <a:pt x="15628" y="2656"/>
                      <a:pt x="12338" y="0"/>
                      <a:pt x="8897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33"/>
              <p:cNvSpPr/>
              <p:nvPr/>
            </p:nvSpPr>
            <p:spPr>
              <a:xfrm>
                <a:off x="5659053" y="2984362"/>
                <a:ext cx="764120" cy="773621"/>
              </a:xfrm>
              <a:custGeom>
                <a:rect b="b" l="l" r="r" t="t"/>
                <a:pathLst>
                  <a:path extrusionOk="0" h="46090" w="45524">
                    <a:moveTo>
                      <a:pt x="32190" y="0"/>
                    </a:moveTo>
                    <a:cubicBezTo>
                      <a:pt x="31779" y="0"/>
                      <a:pt x="31363" y="190"/>
                      <a:pt x="31055" y="646"/>
                    </a:cubicBezTo>
                    <a:lnTo>
                      <a:pt x="680" y="43771"/>
                    </a:lnTo>
                    <a:cubicBezTo>
                      <a:pt x="0" y="44731"/>
                      <a:pt x="680" y="46089"/>
                      <a:pt x="1879" y="46089"/>
                    </a:cubicBezTo>
                    <a:lnTo>
                      <a:pt x="43685" y="46089"/>
                    </a:lnTo>
                    <a:cubicBezTo>
                      <a:pt x="45523" y="45970"/>
                      <a:pt x="45523" y="43252"/>
                      <a:pt x="43685" y="43172"/>
                    </a:cubicBezTo>
                    <a:lnTo>
                      <a:pt x="4676" y="43172"/>
                    </a:lnTo>
                    <a:lnTo>
                      <a:pt x="33413" y="2325"/>
                    </a:lnTo>
                    <a:cubicBezTo>
                      <a:pt x="34212" y="1183"/>
                      <a:pt x="33217" y="0"/>
                      <a:pt x="32190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33"/>
              <p:cNvSpPr/>
              <p:nvPr/>
            </p:nvSpPr>
            <p:spPr>
              <a:xfrm>
                <a:off x="6001969" y="2662759"/>
                <a:ext cx="188395" cy="295584"/>
              </a:xfrm>
              <a:custGeom>
                <a:rect b="b" l="l" r="r" t="t"/>
                <a:pathLst>
                  <a:path extrusionOk="0" h="17610" w="11224">
                    <a:moveTo>
                      <a:pt x="1869" y="1"/>
                    </a:moveTo>
                    <a:cubicBezTo>
                      <a:pt x="921" y="1"/>
                      <a:pt x="1" y="932"/>
                      <a:pt x="512" y="2062"/>
                    </a:cubicBezTo>
                    <a:lnTo>
                      <a:pt x="8146" y="16810"/>
                    </a:lnTo>
                    <a:cubicBezTo>
                      <a:pt x="8386" y="17289"/>
                      <a:pt x="8905" y="17609"/>
                      <a:pt x="9425" y="17609"/>
                    </a:cubicBezTo>
                    <a:cubicBezTo>
                      <a:pt x="10544" y="17609"/>
                      <a:pt x="11223" y="16450"/>
                      <a:pt x="10744" y="15451"/>
                    </a:cubicBezTo>
                    <a:lnTo>
                      <a:pt x="3110" y="743"/>
                    </a:lnTo>
                    <a:cubicBezTo>
                      <a:pt x="2797" y="220"/>
                      <a:pt x="2329" y="1"/>
                      <a:pt x="1869" y="1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33"/>
              <p:cNvSpPr/>
              <p:nvPr/>
            </p:nvSpPr>
            <p:spPr>
              <a:xfrm>
                <a:off x="5777784" y="2645706"/>
                <a:ext cx="474982" cy="120097"/>
              </a:xfrm>
              <a:custGeom>
                <a:rect b="b" l="l" r="r" t="t"/>
                <a:pathLst>
                  <a:path extrusionOk="0" h="7155" w="28298">
                    <a:moveTo>
                      <a:pt x="3598" y="0"/>
                    </a:moveTo>
                    <a:cubicBezTo>
                      <a:pt x="1639" y="0"/>
                      <a:pt x="0" y="1599"/>
                      <a:pt x="40" y="3597"/>
                    </a:cubicBezTo>
                    <a:cubicBezTo>
                      <a:pt x="40" y="5556"/>
                      <a:pt x="1639" y="7154"/>
                      <a:pt x="3598" y="7154"/>
                    </a:cubicBezTo>
                    <a:lnTo>
                      <a:pt x="24700" y="7154"/>
                    </a:lnTo>
                    <a:cubicBezTo>
                      <a:pt x="26699" y="7154"/>
                      <a:pt x="28297" y="5556"/>
                      <a:pt x="28297" y="3597"/>
                    </a:cubicBezTo>
                    <a:cubicBezTo>
                      <a:pt x="28297" y="1599"/>
                      <a:pt x="26699" y="0"/>
                      <a:pt x="24700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33"/>
              <p:cNvSpPr/>
              <p:nvPr/>
            </p:nvSpPr>
            <p:spPr>
              <a:xfrm>
                <a:off x="6114540" y="2891897"/>
                <a:ext cx="436729" cy="741981"/>
              </a:xfrm>
              <a:custGeom>
                <a:rect b="b" l="l" r="r" t="t"/>
                <a:pathLst>
                  <a:path extrusionOk="0" h="44205" w="26019">
                    <a:moveTo>
                      <a:pt x="3877" y="0"/>
                    </a:moveTo>
                    <a:lnTo>
                      <a:pt x="0" y="2039"/>
                    </a:lnTo>
                    <a:lnTo>
                      <a:pt x="22142" y="44204"/>
                    </a:lnTo>
                    <a:lnTo>
                      <a:pt x="26019" y="42166"/>
                    </a:lnTo>
                    <a:lnTo>
                      <a:pt x="3877" y="0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33"/>
              <p:cNvSpPr/>
              <p:nvPr/>
            </p:nvSpPr>
            <p:spPr>
              <a:xfrm>
                <a:off x="5516171" y="3620265"/>
                <a:ext cx="262316" cy="224231"/>
              </a:xfrm>
              <a:custGeom>
                <a:rect b="b" l="l" r="r" t="t"/>
                <a:pathLst>
                  <a:path extrusionOk="0" h="13359" w="15628">
                    <a:moveTo>
                      <a:pt x="8888" y="0"/>
                    </a:moveTo>
                    <a:cubicBezTo>
                      <a:pt x="7246" y="0"/>
                      <a:pt x="5568" y="609"/>
                      <a:pt x="4197" y="1968"/>
                    </a:cubicBezTo>
                    <a:cubicBezTo>
                      <a:pt x="0" y="6164"/>
                      <a:pt x="2998" y="13358"/>
                      <a:pt x="8913" y="13358"/>
                    </a:cubicBezTo>
                    <a:cubicBezTo>
                      <a:pt x="12630" y="13358"/>
                      <a:pt x="15587" y="10361"/>
                      <a:pt x="15627" y="6684"/>
                    </a:cubicBezTo>
                    <a:cubicBezTo>
                      <a:pt x="15600" y="2656"/>
                      <a:pt x="12320" y="0"/>
                      <a:pt x="8888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33"/>
              <p:cNvSpPr/>
              <p:nvPr/>
            </p:nvSpPr>
            <p:spPr>
              <a:xfrm>
                <a:off x="6349987" y="3486076"/>
                <a:ext cx="493093" cy="447857"/>
              </a:xfrm>
              <a:custGeom>
                <a:rect b="b" l="l" r="r" t="t"/>
                <a:pathLst>
                  <a:path extrusionOk="0" h="26682" w="29377">
                    <a:moveTo>
                      <a:pt x="14663" y="0"/>
                    </a:moveTo>
                    <a:cubicBezTo>
                      <a:pt x="8615" y="0"/>
                      <a:pt x="3154" y="4129"/>
                      <a:pt x="1719" y="10242"/>
                    </a:cubicBezTo>
                    <a:cubicBezTo>
                      <a:pt x="1" y="17396"/>
                      <a:pt x="4397" y="24591"/>
                      <a:pt x="11591" y="26309"/>
                    </a:cubicBezTo>
                    <a:cubicBezTo>
                      <a:pt x="12638" y="26561"/>
                      <a:pt x="13686" y="26681"/>
                      <a:pt x="14717" y="26681"/>
                    </a:cubicBezTo>
                    <a:cubicBezTo>
                      <a:pt x="20734" y="26681"/>
                      <a:pt x="26191" y="22579"/>
                      <a:pt x="27658" y="16437"/>
                    </a:cubicBezTo>
                    <a:cubicBezTo>
                      <a:pt x="29377" y="9283"/>
                      <a:pt x="24940" y="2089"/>
                      <a:pt x="17786" y="370"/>
                    </a:cubicBezTo>
                    <a:cubicBezTo>
                      <a:pt x="16739" y="120"/>
                      <a:pt x="15692" y="0"/>
                      <a:pt x="14663" y="0"/>
                    </a:cubicBezTo>
                    <a:close/>
                  </a:path>
                </a:pathLst>
              </a:custGeom>
              <a:solidFill>
                <a:srgbClr val="21202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33"/>
              <p:cNvSpPr/>
              <p:nvPr/>
            </p:nvSpPr>
            <p:spPr>
              <a:xfrm>
                <a:off x="6406348" y="3538593"/>
                <a:ext cx="380382" cy="342817"/>
              </a:xfrm>
              <a:custGeom>
                <a:rect b="b" l="l" r="r" t="t"/>
                <a:pathLst>
                  <a:path extrusionOk="0" h="20424" w="22662">
                    <a:moveTo>
                      <a:pt x="11318" y="1"/>
                    </a:moveTo>
                    <a:cubicBezTo>
                      <a:pt x="6818" y="1"/>
                      <a:pt x="2682" y="3009"/>
                      <a:pt x="1479" y="7553"/>
                    </a:cubicBezTo>
                    <a:cubicBezTo>
                      <a:pt x="0" y="12989"/>
                      <a:pt x="3197" y="18624"/>
                      <a:pt x="8633" y="20063"/>
                    </a:cubicBezTo>
                    <a:cubicBezTo>
                      <a:pt x="9538" y="20307"/>
                      <a:pt x="10446" y="20424"/>
                      <a:pt x="11338" y="20424"/>
                    </a:cubicBezTo>
                    <a:cubicBezTo>
                      <a:pt x="15845" y="20424"/>
                      <a:pt x="19948" y="17446"/>
                      <a:pt x="21183" y="12909"/>
                    </a:cubicBezTo>
                    <a:cubicBezTo>
                      <a:pt x="22662" y="7433"/>
                      <a:pt x="19424" y="1838"/>
                      <a:pt x="13989" y="359"/>
                    </a:cubicBezTo>
                    <a:cubicBezTo>
                      <a:pt x="13097" y="116"/>
                      <a:pt x="12201" y="1"/>
                      <a:pt x="11318" y="1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33"/>
              <p:cNvSpPr/>
              <p:nvPr/>
            </p:nvSpPr>
            <p:spPr>
              <a:xfrm>
                <a:off x="5379984" y="1228916"/>
                <a:ext cx="1151199" cy="1172013"/>
              </a:xfrm>
              <a:custGeom>
                <a:rect b="b" l="l" r="r" t="t"/>
                <a:pathLst>
                  <a:path extrusionOk="0" h="69825" w="68585">
                    <a:moveTo>
                      <a:pt x="37570" y="1"/>
                    </a:moveTo>
                    <a:cubicBezTo>
                      <a:pt x="36651" y="121"/>
                      <a:pt x="35812" y="520"/>
                      <a:pt x="35212" y="1200"/>
                    </a:cubicBezTo>
                    <a:lnTo>
                      <a:pt x="1520" y="36411"/>
                    </a:lnTo>
                    <a:cubicBezTo>
                      <a:pt x="1" y="38010"/>
                      <a:pt x="41" y="40528"/>
                      <a:pt x="1639" y="42047"/>
                    </a:cubicBezTo>
                    <a:lnTo>
                      <a:pt x="30656" y="69824"/>
                    </a:lnTo>
                    <a:lnTo>
                      <a:pt x="68585" y="30216"/>
                    </a:lnTo>
                    <a:lnTo>
                      <a:pt x="39808" y="2639"/>
                    </a:lnTo>
                    <a:lnTo>
                      <a:pt x="40927" y="240"/>
                    </a:lnTo>
                    <a:lnTo>
                      <a:pt x="37570" y="1"/>
                    </a:ln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33"/>
              <p:cNvSpPr/>
              <p:nvPr/>
            </p:nvSpPr>
            <p:spPr>
              <a:xfrm>
                <a:off x="5439685" y="1232172"/>
                <a:ext cx="1145173" cy="1160028"/>
              </a:xfrm>
              <a:custGeom>
                <a:rect b="b" l="l" r="r" t="t"/>
                <a:pathLst>
                  <a:path extrusionOk="0" h="69111" w="68226">
                    <a:moveTo>
                      <a:pt x="37228" y="1"/>
                    </a:moveTo>
                    <a:cubicBezTo>
                      <a:pt x="36559" y="1"/>
                      <a:pt x="35886" y="271"/>
                      <a:pt x="35372" y="806"/>
                    </a:cubicBezTo>
                    <a:lnTo>
                      <a:pt x="960" y="36777"/>
                    </a:lnTo>
                    <a:cubicBezTo>
                      <a:pt x="1" y="37776"/>
                      <a:pt x="1" y="39375"/>
                      <a:pt x="1040" y="40334"/>
                    </a:cubicBezTo>
                    <a:lnTo>
                      <a:pt x="31096" y="69110"/>
                    </a:lnTo>
                    <a:lnTo>
                      <a:pt x="67266" y="31301"/>
                    </a:lnTo>
                    <a:cubicBezTo>
                      <a:pt x="68225" y="30302"/>
                      <a:pt x="68225" y="28743"/>
                      <a:pt x="67226" y="27744"/>
                    </a:cubicBezTo>
                    <a:lnTo>
                      <a:pt x="38969" y="726"/>
                    </a:lnTo>
                    <a:cubicBezTo>
                      <a:pt x="38484" y="241"/>
                      <a:pt x="37858" y="1"/>
                      <a:pt x="37228" y="1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3"/>
              <p:cNvSpPr/>
              <p:nvPr/>
            </p:nvSpPr>
            <p:spPr>
              <a:xfrm>
                <a:off x="5798580" y="1108842"/>
                <a:ext cx="888229" cy="933179"/>
              </a:xfrm>
              <a:custGeom>
                <a:rect b="b" l="l" r="r" t="t"/>
                <a:pathLst>
                  <a:path extrusionOk="0" h="55596" w="52918">
                    <a:moveTo>
                      <a:pt x="19904" y="0"/>
                    </a:moveTo>
                    <a:lnTo>
                      <a:pt x="0" y="14589"/>
                    </a:lnTo>
                    <a:lnTo>
                      <a:pt x="42166" y="55595"/>
                    </a:lnTo>
                    <a:lnTo>
                      <a:pt x="52917" y="30975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33"/>
              <p:cNvSpPr/>
              <p:nvPr/>
            </p:nvSpPr>
            <p:spPr>
              <a:xfrm>
                <a:off x="6023973" y="1369786"/>
                <a:ext cx="250248" cy="252262"/>
              </a:xfrm>
              <a:custGeom>
                <a:rect b="b" l="l" r="r" t="t"/>
                <a:pathLst>
                  <a:path extrusionOk="0" h="15029" w="14909">
                    <a:moveTo>
                      <a:pt x="11991" y="1"/>
                    </a:moveTo>
                    <a:lnTo>
                      <a:pt x="1" y="12071"/>
                    </a:lnTo>
                    <a:lnTo>
                      <a:pt x="2998" y="15029"/>
                    </a:lnTo>
                    <a:lnTo>
                      <a:pt x="14908" y="2839"/>
                    </a:lnTo>
                    <a:lnTo>
                      <a:pt x="11991" y="1"/>
                    </a:ln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33"/>
              <p:cNvSpPr/>
              <p:nvPr/>
            </p:nvSpPr>
            <p:spPr>
              <a:xfrm>
                <a:off x="6222529" y="1560304"/>
                <a:ext cx="250919" cy="251590"/>
              </a:xfrm>
              <a:custGeom>
                <a:rect b="b" l="l" r="r" t="t"/>
                <a:pathLst>
                  <a:path extrusionOk="0" h="14989" w="14949">
                    <a:moveTo>
                      <a:pt x="11991" y="1"/>
                    </a:moveTo>
                    <a:lnTo>
                      <a:pt x="1" y="12071"/>
                    </a:lnTo>
                    <a:lnTo>
                      <a:pt x="2998" y="14989"/>
                    </a:lnTo>
                    <a:lnTo>
                      <a:pt x="14949" y="2838"/>
                    </a:lnTo>
                    <a:lnTo>
                      <a:pt x="11991" y="1"/>
                    </a:ln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33"/>
              <p:cNvSpPr/>
              <p:nvPr/>
            </p:nvSpPr>
            <p:spPr>
              <a:xfrm>
                <a:off x="6252723" y="2794633"/>
                <a:ext cx="637998" cy="675563"/>
              </a:xfrm>
              <a:custGeom>
                <a:rect b="b" l="l" r="r" t="t"/>
                <a:pathLst>
                  <a:path extrusionOk="0" h="40248" w="38010">
                    <a:moveTo>
                      <a:pt x="22742" y="0"/>
                    </a:moveTo>
                    <a:lnTo>
                      <a:pt x="0" y="38249"/>
                    </a:lnTo>
                    <a:lnTo>
                      <a:pt x="9193" y="40247"/>
                    </a:lnTo>
                    <a:lnTo>
                      <a:pt x="38010" y="3757"/>
                    </a:lnTo>
                    <a:lnTo>
                      <a:pt x="22742" y="0"/>
                    </a:lnTo>
                    <a:close/>
                  </a:path>
                </a:pathLst>
              </a:custGeom>
              <a:solidFill>
                <a:srgbClr val="E5A89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33"/>
              <p:cNvSpPr/>
              <p:nvPr/>
            </p:nvSpPr>
            <p:spPr>
              <a:xfrm>
                <a:off x="6252723" y="3243409"/>
                <a:ext cx="290498" cy="226765"/>
              </a:xfrm>
              <a:custGeom>
                <a:rect b="b" l="l" r="r" t="t"/>
                <a:pathLst>
                  <a:path extrusionOk="0" h="13510" w="17307">
                    <a:moveTo>
                      <a:pt x="6835" y="0"/>
                    </a:moveTo>
                    <a:lnTo>
                      <a:pt x="0" y="11511"/>
                    </a:lnTo>
                    <a:lnTo>
                      <a:pt x="9193" y="13509"/>
                    </a:lnTo>
                    <a:lnTo>
                      <a:pt x="17306" y="3238"/>
                    </a:lnTo>
                    <a:lnTo>
                      <a:pt x="6835" y="0"/>
                    </a:lnTo>
                    <a:close/>
                  </a:path>
                </a:pathLst>
              </a:custGeom>
              <a:solidFill>
                <a:srgbClr val="FDFBF9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33"/>
              <p:cNvSpPr/>
              <p:nvPr/>
            </p:nvSpPr>
            <p:spPr>
              <a:xfrm>
                <a:off x="6174912" y="3394350"/>
                <a:ext cx="463568" cy="363613"/>
              </a:xfrm>
              <a:custGeom>
                <a:rect b="b" l="l" r="r" t="t"/>
                <a:pathLst>
                  <a:path extrusionOk="0" h="21663" w="27618">
                    <a:moveTo>
                      <a:pt x="5875" y="0"/>
                    </a:moveTo>
                    <a:lnTo>
                      <a:pt x="0" y="8233"/>
                    </a:lnTo>
                    <a:lnTo>
                      <a:pt x="26539" y="21662"/>
                    </a:lnTo>
                    <a:cubicBezTo>
                      <a:pt x="27618" y="20104"/>
                      <a:pt x="25420" y="16946"/>
                      <a:pt x="24221" y="15467"/>
                    </a:cubicBezTo>
                    <a:lnTo>
                      <a:pt x="14229" y="3957"/>
                    </a:lnTo>
                    <a:lnTo>
                      <a:pt x="5875" y="0"/>
                    </a:ln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33"/>
              <p:cNvSpPr/>
              <p:nvPr/>
            </p:nvSpPr>
            <p:spPr>
              <a:xfrm>
                <a:off x="6439883" y="3614626"/>
                <a:ext cx="217366" cy="159424"/>
              </a:xfrm>
              <a:custGeom>
                <a:rect b="b" l="l" r="r" t="t"/>
                <a:pathLst>
                  <a:path extrusionOk="0" h="9498" w="12950">
                    <a:moveTo>
                      <a:pt x="5868" y="0"/>
                    </a:moveTo>
                    <a:cubicBezTo>
                      <a:pt x="3949" y="0"/>
                      <a:pt x="1566" y="938"/>
                      <a:pt x="0" y="4861"/>
                    </a:cubicBezTo>
                    <a:lnTo>
                      <a:pt x="10592" y="9498"/>
                    </a:lnTo>
                    <a:lnTo>
                      <a:pt x="12950" y="5781"/>
                    </a:lnTo>
                    <a:lnTo>
                      <a:pt x="8993" y="785"/>
                    </a:lnTo>
                    <a:cubicBezTo>
                      <a:pt x="8993" y="785"/>
                      <a:pt x="7625" y="0"/>
                      <a:pt x="58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33"/>
              <p:cNvSpPr/>
              <p:nvPr/>
            </p:nvSpPr>
            <p:spPr>
              <a:xfrm>
                <a:off x="6349316" y="3422010"/>
                <a:ext cx="108700" cy="73653"/>
              </a:xfrm>
              <a:custGeom>
                <a:rect b="b" l="l" r="r" t="t"/>
                <a:pathLst>
                  <a:path extrusionOk="0" h="4388" w="6476">
                    <a:moveTo>
                      <a:pt x="3517" y="0"/>
                    </a:moveTo>
                    <a:cubicBezTo>
                      <a:pt x="3088" y="0"/>
                      <a:pt x="2660" y="101"/>
                      <a:pt x="2279" y="310"/>
                    </a:cubicBezTo>
                    <a:lnTo>
                      <a:pt x="1" y="1509"/>
                    </a:lnTo>
                    <a:lnTo>
                      <a:pt x="5636" y="4387"/>
                    </a:lnTo>
                    <a:lnTo>
                      <a:pt x="5836" y="3947"/>
                    </a:lnTo>
                    <a:cubicBezTo>
                      <a:pt x="6476" y="2708"/>
                      <a:pt x="6276" y="1030"/>
                      <a:pt x="4877" y="350"/>
                    </a:cubicBezTo>
                    <a:cubicBezTo>
                      <a:pt x="4459" y="121"/>
                      <a:pt x="3987" y="0"/>
                      <a:pt x="3517" y="0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33"/>
              <p:cNvSpPr/>
              <p:nvPr/>
            </p:nvSpPr>
            <p:spPr>
              <a:xfrm>
                <a:off x="6160142" y="3505696"/>
                <a:ext cx="460228" cy="275744"/>
              </a:xfrm>
              <a:custGeom>
                <a:rect b="b" l="l" r="r" t="t"/>
                <a:pathLst>
                  <a:path extrusionOk="0" h="16428" w="27419">
                    <a:moveTo>
                      <a:pt x="1919" y="1"/>
                    </a:moveTo>
                    <a:lnTo>
                      <a:pt x="1" y="2958"/>
                    </a:lnTo>
                    <a:lnTo>
                      <a:pt x="26699" y="16427"/>
                    </a:lnTo>
                    <a:lnTo>
                      <a:pt x="27419" y="15028"/>
                    </a:lnTo>
                    <a:lnTo>
                      <a:pt x="19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33"/>
              <p:cNvSpPr/>
              <p:nvPr/>
            </p:nvSpPr>
            <p:spPr>
              <a:xfrm>
                <a:off x="6435855" y="3542118"/>
                <a:ext cx="63078" cy="15258"/>
              </a:xfrm>
              <a:custGeom>
                <a:rect b="b" l="l" r="r" t="t"/>
                <a:pathLst>
                  <a:path extrusionOk="0" h="909" w="3758">
                    <a:moveTo>
                      <a:pt x="1750" y="0"/>
                    </a:moveTo>
                    <a:cubicBezTo>
                      <a:pt x="1209" y="0"/>
                      <a:pt x="668" y="113"/>
                      <a:pt x="160" y="349"/>
                    </a:cubicBezTo>
                    <a:cubicBezTo>
                      <a:pt x="41" y="389"/>
                      <a:pt x="1" y="548"/>
                      <a:pt x="41" y="668"/>
                    </a:cubicBezTo>
                    <a:cubicBezTo>
                      <a:pt x="71" y="758"/>
                      <a:pt x="168" y="803"/>
                      <a:pt x="265" y="803"/>
                    </a:cubicBezTo>
                    <a:cubicBezTo>
                      <a:pt x="298" y="803"/>
                      <a:pt x="330" y="798"/>
                      <a:pt x="360" y="788"/>
                    </a:cubicBezTo>
                    <a:cubicBezTo>
                      <a:pt x="809" y="583"/>
                      <a:pt x="1292" y="482"/>
                      <a:pt x="1773" y="482"/>
                    </a:cubicBezTo>
                    <a:cubicBezTo>
                      <a:pt x="2322" y="482"/>
                      <a:pt x="2868" y="613"/>
                      <a:pt x="3358" y="868"/>
                    </a:cubicBezTo>
                    <a:cubicBezTo>
                      <a:pt x="3398" y="908"/>
                      <a:pt x="3438" y="908"/>
                      <a:pt x="3478" y="908"/>
                    </a:cubicBezTo>
                    <a:cubicBezTo>
                      <a:pt x="3558" y="908"/>
                      <a:pt x="3638" y="868"/>
                      <a:pt x="3678" y="788"/>
                    </a:cubicBezTo>
                    <a:cubicBezTo>
                      <a:pt x="3758" y="708"/>
                      <a:pt x="3718" y="548"/>
                      <a:pt x="3638" y="469"/>
                    </a:cubicBezTo>
                    <a:cubicBezTo>
                      <a:pt x="3048" y="163"/>
                      <a:pt x="2400" y="0"/>
                      <a:pt x="1750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33"/>
              <p:cNvSpPr/>
              <p:nvPr/>
            </p:nvSpPr>
            <p:spPr>
              <a:xfrm>
                <a:off x="6415059" y="3519073"/>
                <a:ext cx="63749" cy="15493"/>
              </a:xfrm>
              <a:custGeom>
                <a:rect b="b" l="l" r="r" t="t"/>
                <a:pathLst>
                  <a:path extrusionOk="0" h="923" w="3798">
                    <a:moveTo>
                      <a:pt x="1793" y="1"/>
                    </a:moveTo>
                    <a:cubicBezTo>
                      <a:pt x="1246" y="1"/>
                      <a:pt x="701" y="121"/>
                      <a:pt x="200" y="363"/>
                    </a:cubicBezTo>
                    <a:cubicBezTo>
                      <a:pt x="81" y="403"/>
                      <a:pt x="1" y="523"/>
                      <a:pt x="81" y="642"/>
                    </a:cubicBezTo>
                    <a:cubicBezTo>
                      <a:pt x="113" y="741"/>
                      <a:pt x="200" y="813"/>
                      <a:pt x="319" y="813"/>
                    </a:cubicBezTo>
                    <a:cubicBezTo>
                      <a:pt x="345" y="813"/>
                      <a:pt x="372" y="809"/>
                      <a:pt x="400" y="802"/>
                    </a:cubicBezTo>
                    <a:cubicBezTo>
                      <a:pt x="832" y="577"/>
                      <a:pt x="1309" y="466"/>
                      <a:pt x="1792" y="466"/>
                    </a:cubicBezTo>
                    <a:cubicBezTo>
                      <a:pt x="2336" y="466"/>
                      <a:pt x="2889" y="607"/>
                      <a:pt x="3398" y="882"/>
                    </a:cubicBezTo>
                    <a:cubicBezTo>
                      <a:pt x="3438" y="882"/>
                      <a:pt x="3478" y="922"/>
                      <a:pt x="3518" y="922"/>
                    </a:cubicBezTo>
                    <a:cubicBezTo>
                      <a:pt x="3598" y="922"/>
                      <a:pt x="3678" y="882"/>
                      <a:pt x="3718" y="802"/>
                    </a:cubicBezTo>
                    <a:cubicBezTo>
                      <a:pt x="3798" y="682"/>
                      <a:pt x="3758" y="563"/>
                      <a:pt x="3638" y="483"/>
                    </a:cubicBezTo>
                    <a:cubicBezTo>
                      <a:pt x="3060" y="161"/>
                      <a:pt x="2424" y="1"/>
                      <a:pt x="1793" y="1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33"/>
              <p:cNvSpPr/>
              <p:nvPr/>
            </p:nvSpPr>
            <p:spPr>
              <a:xfrm>
                <a:off x="6398292" y="3497841"/>
                <a:ext cx="63749" cy="15258"/>
              </a:xfrm>
              <a:custGeom>
                <a:rect b="b" l="l" r="r" t="t"/>
                <a:pathLst>
                  <a:path extrusionOk="0" h="909" w="3798">
                    <a:moveTo>
                      <a:pt x="1772" y="1"/>
                    </a:moveTo>
                    <a:cubicBezTo>
                      <a:pt x="1241" y="1"/>
                      <a:pt x="708" y="113"/>
                      <a:pt x="200" y="349"/>
                    </a:cubicBezTo>
                    <a:cubicBezTo>
                      <a:pt x="80" y="389"/>
                      <a:pt x="0" y="549"/>
                      <a:pt x="80" y="668"/>
                    </a:cubicBezTo>
                    <a:cubicBezTo>
                      <a:pt x="110" y="758"/>
                      <a:pt x="185" y="803"/>
                      <a:pt x="288" y="803"/>
                    </a:cubicBezTo>
                    <a:cubicBezTo>
                      <a:pt x="323" y="803"/>
                      <a:pt x="360" y="798"/>
                      <a:pt x="400" y="788"/>
                    </a:cubicBezTo>
                    <a:cubicBezTo>
                      <a:pt x="830" y="583"/>
                      <a:pt x="1303" y="482"/>
                      <a:pt x="1783" y="482"/>
                    </a:cubicBezTo>
                    <a:cubicBezTo>
                      <a:pt x="2331" y="482"/>
                      <a:pt x="2887" y="613"/>
                      <a:pt x="3398" y="868"/>
                    </a:cubicBezTo>
                    <a:cubicBezTo>
                      <a:pt x="3398" y="908"/>
                      <a:pt x="3478" y="908"/>
                      <a:pt x="3518" y="908"/>
                    </a:cubicBezTo>
                    <a:cubicBezTo>
                      <a:pt x="3597" y="908"/>
                      <a:pt x="3677" y="868"/>
                      <a:pt x="3717" y="788"/>
                    </a:cubicBezTo>
                    <a:cubicBezTo>
                      <a:pt x="3797" y="668"/>
                      <a:pt x="3757" y="549"/>
                      <a:pt x="3637" y="469"/>
                    </a:cubicBezTo>
                    <a:cubicBezTo>
                      <a:pt x="3048" y="163"/>
                      <a:pt x="2411" y="1"/>
                      <a:pt x="1772" y="1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33"/>
              <p:cNvSpPr/>
              <p:nvPr/>
            </p:nvSpPr>
            <p:spPr>
              <a:xfrm>
                <a:off x="6252723" y="2553124"/>
                <a:ext cx="671534" cy="364167"/>
              </a:xfrm>
              <a:custGeom>
                <a:rect b="b" l="l" r="r" t="t"/>
                <a:pathLst>
                  <a:path extrusionOk="0" h="21696" w="40008">
                    <a:moveTo>
                      <a:pt x="20584" y="1"/>
                    </a:moveTo>
                    <a:lnTo>
                      <a:pt x="0" y="11591"/>
                    </a:lnTo>
                    <a:lnTo>
                      <a:pt x="29656" y="21343"/>
                    </a:lnTo>
                    <a:cubicBezTo>
                      <a:pt x="30389" y="21582"/>
                      <a:pt x="31137" y="21696"/>
                      <a:pt x="31874" y="21696"/>
                    </a:cubicBezTo>
                    <a:cubicBezTo>
                      <a:pt x="34353" y="21696"/>
                      <a:pt x="36716" y="20404"/>
                      <a:pt x="38010" y="18186"/>
                    </a:cubicBezTo>
                    <a:cubicBezTo>
                      <a:pt x="40008" y="14749"/>
                      <a:pt x="38849" y="10352"/>
                      <a:pt x="35372" y="8394"/>
                    </a:cubicBezTo>
                    <a:lnTo>
                      <a:pt x="20584" y="1"/>
                    </a:lnTo>
                    <a:close/>
                  </a:path>
                </a:pathLst>
              </a:custGeom>
              <a:solidFill>
                <a:srgbClr val="E5A89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33"/>
              <p:cNvSpPr/>
              <p:nvPr/>
            </p:nvSpPr>
            <p:spPr>
              <a:xfrm>
                <a:off x="5893829" y="2084895"/>
                <a:ext cx="421320" cy="456871"/>
              </a:xfrm>
              <a:custGeom>
                <a:rect b="b" l="l" r="r" t="t"/>
                <a:pathLst>
                  <a:path extrusionOk="0" h="27219" w="25101">
                    <a:moveTo>
                      <a:pt x="17347" y="0"/>
                    </a:moveTo>
                    <a:cubicBezTo>
                      <a:pt x="4557" y="6435"/>
                      <a:pt x="1" y="16787"/>
                      <a:pt x="1" y="16787"/>
                    </a:cubicBezTo>
                    <a:lnTo>
                      <a:pt x="9873" y="27218"/>
                    </a:lnTo>
                    <a:lnTo>
                      <a:pt x="21903" y="24500"/>
                    </a:lnTo>
                    <a:lnTo>
                      <a:pt x="25100" y="13509"/>
                    </a:lnTo>
                    <a:lnTo>
                      <a:pt x="17347" y="0"/>
                    </a:lnTo>
                    <a:close/>
                  </a:path>
                </a:pathLst>
              </a:custGeom>
              <a:solidFill>
                <a:srgbClr val="D6927E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33"/>
              <p:cNvSpPr/>
              <p:nvPr/>
            </p:nvSpPr>
            <p:spPr>
              <a:xfrm>
                <a:off x="5773085" y="2366635"/>
                <a:ext cx="825167" cy="482367"/>
              </a:xfrm>
              <a:custGeom>
                <a:rect b="b" l="l" r="r" t="t"/>
                <a:pathLst>
                  <a:path extrusionOk="0" h="28738" w="49161">
                    <a:moveTo>
                      <a:pt x="7195" y="1"/>
                    </a:moveTo>
                    <a:cubicBezTo>
                      <a:pt x="7195" y="1"/>
                      <a:pt x="1" y="13030"/>
                      <a:pt x="16347" y="21303"/>
                    </a:cubicBezTo>
                    <a:lnTo>
                      <a:pt x="33374" y="28737"/>
                    </a:lnTo>
                    <a:lnTo>
                      <a:pt x="49161" y="11112"/>
                    </a:lnTo>
                    <a:lnTo>
                      <a:pt x="33893" y="1759"/>
                    </a:lnTo>
                    <a:lnTo>
                      <a:pt x="28218" y="1"/>
                    </a:lnTo>
                    <a:close/>
                  </a:path>
                </a:pathLst>
              </a:custGeom>
              <a:solidFill>
                <a:srgbClr val="885DA7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33"/>
              <p:cNvSpPr/>
              <p:nvPr/>
            </p:nvSpPr>
            <p:spPr>
              <a:xfrm>
                <a:off x="5905242" y="1708995"/>
                <a:ext cx="930493" cy="687211"/>
              </a:xfrm>
              <a:custGeom>
                <a:rect b="b" l="l" r="r" t="t"/>
                <a:pathLst>
                  <a:path extrusionOk="0" h="40942" w="55436">
                    <a:moveTo>
                      <a:pt x="45899" y="0"/>
                    </a:moveTo>
                    <a:cubicBezTo>
                      <a:pt x="39776" y="0"/>
                      <a:pt x="23273" y="3214"/>
                      <a:pt x="0" y="32508"/>
                    </a:cubicBezTo>
                    <a:lnTo>
                      <a:pt x="26019" y="40941"/>
                    </a:lnTo>
                    <a:cubicBezTo>
                      <a:pt x="26019" y="40941"/>
                      <a:pt x="47322" y="35985"/>
                      <a:pt x="54596" y="9807"/>
                    </a:cubicBezTo>
                    <a:cubicBezTo>
                      <a:pt x="55435" y="6809"/>
                      <a:pt x="48521" y="254"/>
                      <a:pt x="48521" y="254"/>
                    </a:cubicBezTo>
                    <a:cubicBezTo>
                      <a:pt x="48521" y="254"/>
                      <a:pt x="47620" y="0"/>
                      <a:pt x="45899" y="0"/>
                    </a:cubicBezTo>
                    <a:close/>
                  </a:path>
                </a:pathLst>
              </a:custGeom>
              <a:solidFill>
                <a:srgbClr val="FDFBF9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5882433" y="2169420"/>
                <a:ext cx="794971" cy="220924"/>
              </a:xfrm>
              <a:custGeom>
                <a:rect b="b" l="l" r="r" t="t"/>
                <a:pathLst>
                  <a:path extrusionOk="0" h="13162" w="47362">
                    <a:moveTo>
                      <a:pt x="47362" y="0"/>
                    </a:moveTo>
                    <a:lnTo>
                      <a:pt x="47362" y="0"/>
                    </a:lnTo>
                    <a:cubicBezTo>
                      <a:pt x="31894" y="8393"/>
                      <a:pt x="1479" y="10192"/>
                      <a:pt x="1479" y="10192"/>
                    </a:cubicBezTo>
                    <a:cubicBezTo>
                      <a:pt x="0" y="10232"/>
                      <a:pt x="40" y="13150"/>
                      <a:pt x="40" y="13150"/>
                    </a:cubicBezTo>
                    <a:cubicBezTo>
                      <a:pt x="591" y="13158"/>
                      <a:pt x="1138" y="13161"/>
                      <a:pt x="1682" y="13161"/>
                    </a:cubicBezTo>
                    <a:cubicBezTo>
                      <a:pt x="25602" y="13161"/>
                      <a:pt x="42606" y="5596"/>
                      <a:pt x="42606" y="5596"/>
                    </a:cubicBezTo>
                    <a:lnTo>
                      <a:pt x="47362" y="0"/>
                    </a:ln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6439211" y="2343338"/>
                <a:ext cx="630612" cy="277876"/>
              </a:xfrm>
              <a:custGeom>
                <a:rect b="b" l="l" r="r" t="t"/>
                <a:pathLst>
                  <a:path extrusionOk="0" h="16555" w="37570">
                    <a:moveTo>
                      <a:pt x="5442" y="1"/>
                    </a:moveTo>
                    <a:cubicBezTo>
                      <a:pt x="3667" y="1"/>
                      <a:pt x="2206" y="801"/>
                      <a:pt x="1399" y="2907"/>
                    </a:cubicBezTo>
                    <a:cubicBezTo>
                      <a:pt x="0" y="6584"/>
                      <a:pt x="1879" y="10701"/>
                      <a:pt x="5556" y="12060"/>
                    </a:cubicBezTo>
                    <a:lnTo>
                      <a:pt x="35212" y="16456"/>
                    </a:lnTo>
                    <a:cubicBezTo>
                      <a:pt x="35408" y="16524"/>
                      <a:pt x="35582" y="16555"/>
                      <a:pt x="35737" y="16555"/>
                    </a:cubicBezTo>
                    <a:cubicBezTo>
                      <a:pt x="36691" y="16555"/>
                      <a:pt x="36941" y="15381"/>
                      <a:pt x="37250" y="14178"/>
                    </a:cubicBezTo>
                    <a:cubicBezTo>
                      <a:pt x="37570" y="12979"/>
                      <a:pt x="36571" y="11780"/>
                      <a:pt x="35412" y="11301"/>
                    </a:cubicBezTo>
                    <a:lnTo>
                      <a:pt x="10032" y="1229"/>
                    </a:lnTo>
                    <a:cubicBezTo>
                      <a:pt x="8417" y="492"/>
                      <a:pt x="6833" y="1"/>
                      <a:pt x="5442" y="1"/>
                    </a:cubicBezTo>
                    <a:close/>
                  </a:path>
                </a:pathLst>
              </a:custGeom>
              <a:solidFill>
                <a:srgbClr val="E5A89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6971838" y="2506750"/>
                <a:ext cx="240177" cy="199960"/>
              </a:xfrm>
              <a:custGeom>
                <a:rect b="b" l="l" r="r" t="t"/>
                <a:pathLst>
                  <a:path extrusionOk="0" h="11913" w="14309">
                    <a:moveTo>
                      <a:pt x="9910" y="0"/>
                    </a:moveTo>
                    <a:cubicBezTo>
                      <a:pt x="9713" y="0"/>
                      <a:pt x="9513" y="15"/>
                      <a:pt x="9313" y="46"/>
                    </a:cubicBezTo>
                    <a:lnTo>
                      <a:pt x="1999" y="965"/>
                    </a:lnTo>
                    <a:lnTo>
                      <a:pt x="1" y="6281"/>
                    </a:lnTo>
                    <a:cubicBezTo>
                      <a:pt x="1" y="6281"/>
                      <a:pt x="5156" y="11197"/>
                      <a:pt x="7475" y="11796"/>
                    </a:cubicBezTo>
                    <a:cubicBezTo>
                      <a:pt x="7778" y="11873"/>
                      <a:pt x="8091" y="11912"/>
                      <a:pt x="8409" y="11912"/>
                    </a:cubicBezTo>
                    <a:cubicBezTo>
                      <a:pt x="10563" y="11912"/>
                      <a:pt x="12934" y="10132"/>
                      <a:pt x="13909" y="6441"/>
                    </a:cubicBezTo>
                    <a:cubicBezTo>
                      <a:pt x="14309" y="4882"/>
                      <a:pt x="14069" y="3203"/>
                      <a:pt x="13230" y="1804"/>
                    </a:cubicBezTo>
                    <a:cubicBezTo>
                      <a:pt x="12498" y="690"/>
                      <a:pt x="11251" y="0"/>
                      <a:pt x="99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6953006" y="2559788"/>
                <a:ext cx="146315" cy="123789"/>
              </a:xfrm>
              <a:custGeom>
                <a:rect b="b" l="l" r="r" t="t"/>
                <a:pathLst>
                  <a:path extrusionOk="0" h="7375" w="8717">
                    <a:moveTo>
                      <a:pt x="4749" y="1"/>
                    </a:moveTo>
                    <a:cubicBezTo>
                      <a:pt x="1833" y="1"/>
                      <a:pt x="1" y="3399"/>
                      <a:pt x="1842" y="5879"/>
                    </a:cubicBezTo>
                    <a:cubicBezTo>
                      <a:pt x="2604" y="6905"/>
                      <a:pt x="3699" y="7375"/>
                      <a:pt x="4781" y="7375"/>
                    </a:cubicBezTo>
                    <a:cubicBezTo>
                      <a:pt x="6479" y="7375"/>
                      <a:pt x="8144" y="6217"/>
                      <a:pt x="8437" y="4240"/>
                    </a:cubicBezTo>
                    <a:cubicBezTo>
                      <a:pt x="8716" y="2202"/>
                      <a:pt x="7358" y="363"/>
                      <a:pt x="5319" y="43"/>
                    </a:cubicBezTo>
                    <a:cubicBezTo>
                      <a:pt x="5125" y="15"/>
                      <a:pt x="4935" y="1"/>
                      <a:pt x="4749" y="1"/>
                    </a:cubicBezTo>
                    <a:close/>
                  </a:path>
                </a:pathLst>
              </a:custGeom>
              <a:solidFill>
                <a:srgbClr val="20124D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33"/>
              <p:cNvSpPr/>
              <p:nvPr/>
            </p:nvSpPr>
            <p:spPr>
              <a:xfrm>
                <a:off x="6937632" y="2508176"/>
                <a:ext cx="67761" cy="104671"/>
              </a:xfrm>
              <a:custGeom>
                <a:rect b="b" l="l" r="r" t="t"/>
                <a:pathLst>
                  <a:path extrusionOk="0" h="6236" w="4037">
                    <a:moveTo>
                      <a:pt x="2039" y="1"/>
                    </a:moveTo>
                    <a:lnTo>
                      <a:pt x="0" y="5876"/>
                    </a:lnTo>
                    <a:lnTo>
                      <a:pt x="2079" y="6236"/>
                    </a:lnTo>
                    <a:lnTo>
                      <a:pt x="4037" y="880"/>
                    </a:lnTo>
                    <a:lnTo>
                      <a:pt x="20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33"/>
              <p:cNvSpPr/>
              <p:nvPr/>
            </p:nvSpPr>
            <p:spPr>
              <a:xfrm>
                <a:off x="6445925" y="1835330"/>
                <a:ext cx="256945" cy="717189"/>
              </a:xfrm>
              <a:custGeom>
                <a:rect b="b" l="l" r="r" t="t"/>
                <a:pathLst>
                  <a:path extrusionOk="0" h="42728" w="15308">
                    <a:moveTo>
                      <a:pt x="8128" y="0"/>
                    </a:moveTo>
                    <a:cubicBezTo>
                      <a:pt x="3638" y="0"/>
                      <a:pt x="0" y="3647"/>
                      <a:pt x="0" y="8155"/>
                    </a:cubicBezTo>
                    <a:lnTo>
                      <a:pt x="600" y="35812"/>
                    </a:lnTo>
                    <a:cubicBezTo>
                      <a:pt x="600" y="39674"/>
                      <a:pt x="3730" y="42727"/>
                      <a:pt x="7516" y="42727"/>
                    </a:cubicBezTo>
                    <a:cubicBezTo>
                      <a:pt x="7766" y="42727"/>
                      <a:pt x="8019" y="42714"/>
                      <a:pt x="8273" y="42687"/>
                    </a:cubicBezTo>
                    <a:cubicBezTo>
                      <a:pt x="11551" y="42327"/>
                      <a:pt x="11910" y="39449"/>
                      <a:pt x="12150" y="36132"/>
                    </a:cubicBezTo>
                    <a:lnTo>
                      <a:pt x="14948" y="8634"/>
                    </a:lnTo>
                    <a:cubicBezTo>
                      <a:pt x="15308" y="3918"/>
                      <a:pt x="12990" y="81"/>
                      <a:pt x="8273" y="1"/>
                    </a:cubicBezTo>
                    <a:cubicBezTo>
                      <a:pt x="8225" y="1"/>
                      <a:pt x="8176" y="0"/>
                      <a:pt x="8128" y="0"/>
                    </a:cubicBezTo>
                    <a:close/>
                  </a:path>
                </a:pathLst>
              </a:custGeom>
              <a:solidFill>
                <a:srgbClr val="E5A89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6378168" y="1781084"/>
                <a:ext cx="327224" cy="388371"/>
              </a:xfrm>
              <a:custGeom>
                <a:rect b="b" l="l" r="r" t="t"/>
                <a:pathLst>
                  <a:path extrusionOk="0" h="23138" w="19495">
                    <a:moveTo>
                      <a:pt x="10540" y="0"/>
                    </a:moveTo>
                    <a:cubicBezTo>
                      <a:pt x="10051" y="0"/>
                      <a:pt x="9548" y="38"/>
                      <a:pt x="9033" y="116"/>
                    </a:cubicBezTo>
                    <a:lnTo>
                      <a:pt x="8713" y="156"/>
                    </a:lnTo>
                    <a:cubicBezTo>
                      <a:pt x="4117" y="995"/>
                      <a:pt x="760" y="4912"/>
                      <a:pt x="600" y="9548"/>
                    </a:cubicBezTo>
                    <a:lnTo>
                      <a:pt x="0" y="23137"/>
                    </a:lnTo>
                    <a:lnTo>
                      <a:pt x="0" y="23137"/>
                    </a:lnTo>
                    <a:lnTo>
                      <a:pt x="18066" y="20779"/>
                    </a:lnTo>
                    <a:cubicBezTo>
                      <a:pt x="18825" y="16423"/>
                      <a:pt x="19345" y="12666"/>
                      <a:pt x="19385" y="10028"/>
                    </a:cubicBezTo>
                    <a:cubicBezTo>
                      <a:pt x="19494" y="4395"/>
                      <a:pt x="15821" y="0"/>
                      <a:pt x="105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6375482" y="1988285"/>
                <a:ext cx="77161" cy="183175"/>
              </a:xfrm>
              <a:custGeom>
                <a:rect b="b" l="l" r="r" t="t"/>
                <a:pathLst>
                  <a:path extrusionOk="0" h="10913" w="4597">
                    <a:moveTo>
                      <a:pt x="640" y="1"/>
                    </a:moveTo>
                    <a:cubicBezTo>
                      <a:pt x="560" y="1"/>
                      <a:pt x="520" y="81"/>
                      <a:pt x="520" y="161"/>
                    </a:cubicBezTo>
                    <a:lnTo>
                      <a:pt x="1" y="10752"/>
                    </a:lnTo>
                    <a:cubicBezTo>
                      <a:pt x="1" y="10792"/>
                      <a:pt x="40" y="10832"/>
                      <a:pt x="40" y="10872"/>
                    </a:cubicBezTo>
                    <a:cubicBezTo>
                      <a:pt x="80" y="10912"/>
                      <a:pt x="120" y="10912"/>
                      <a:pt x="160" y="10912"/>
                    </a:cubicBezTo>
                    <a:lnTo>
                      <a:pt x="4437" y="10353"/>
                    </a:lnTo>
                    <a:cubicBezTo>
                      <a:pt x="4517" y="10353"/>
                      <a:pt x="4597" y="10273"/>
                      <a:pt x="4557" y="10193"/>
                    </a:cubicBezTo>
                    <a:cubicBezTo>
                      <a:pt x="4557" y="10113"/>
                      <a:pt x="4477" y="10073"/>
                      <a:pt x="4437" y="10073"/>
                    </a:cubicBezTo>
                    <a:lnTo>
                      <a:pt x="280" y="10592"/>
                    </a:lnTo>
                    <a:lnTo>
                      <a:pt x="800" y="161"/>
                    </a:lnTo>
                    <a:cubicBezTo>
                      <a:pt x="800" y="81"/>
                      <a:pt x="720" y="1"/>
                      <a:pt x="640" y="1"/>
                    </a:cubicBezTo>
                    <a:close/>
                  </a:path>
                </a:pathLst>
              </a:custGeom>
              <a:solidFill>
                <a:srgbClr val="21202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6681372" y="1915173"/>
                <a:ext cx="18799" cy="216711"/>
              </a:xfrm>
              <a:custGeom>
                <a:rect b="b" l="l" r="r" t="t"/>
                <a:pathLst>
                  <a:path extrusionOk="0" h="12911" w="1120">
                    <a:moveTo>
                      <a:pt x="960" y="1"/>
                    </a:moveTo>
                    <a:cubicBezTo>
                      <a:pt x="880" y="1"/>
                      <a:pt x="840" y="80"/>
                      <a:pt x="800" y="160"/>
                    </a:cubicBezTo>
                    <a:lnTo>
                      <a:pt x="1" y="12750"/>
                    </a:lnTo>
                    <a:cubicBezTo>
                      <a:pt x="1" y="12830"/>
                      <a:pt x="41" y="12910"/>
                      <a:pt x="121" y="12910"/>
                    </a:cubicBezTo>
                    <a:cubicBezTo>
                      <a:pt x="201" y="12910"/>
                      <a:pt x="280" y="12870"/>
                      <a:pt x="280" y="12790"/>
                    </a:cubicBezTo>
                    <a:lnTo>
                      <a:pt x="1120" y="160"/>
                    </a:lnTo>
                    <a:cubicBezTo>
                      <a:pt x="1120" y="80"/>
                      <a:pt x="1040" y="40"/>
                      <a:pt x="960" y="1"/>
                    </a:cubicBezTo>
                    <a:close/>
                  </a:path>
                </a:pathLst>
              </a:custGeom>
              <a:solidFill>
                <a:srgbClr val="21202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33"/>
              <p:cNvSpPr/>
              <p:nvPr/>
            </p:nvSpPr>
            <p:spPr>
              <a:xfrm>
                <a:off x="6832983" y="1364432"/>
                <a:ext cx="338117" cy="409118"/>
              </a:xfrm>
              <a:custGeom>
                <a:rect b="b" l="l" r="r" t="t"/>
                <a:pathLst>
                  <a:path extrusionOk="0" h="24374" w="20144">
                    <a:moveTo>
                      <a:pt x="13429" y="0"/>
                    </a:moveTo>
                    <a:lnTo>
                      <a:pt x="0" y="12550"/>
                    </a:lnTo>
                    <a:lnTo>
                      <a:pt x="3238" y="21103"/>
                    </a:lnTo>
                    <a:cubicBezTo>
                      <a:pt x="3238" y="21103"/>
                      <a:pt x="5836" y="22422"/>
                      <a:pt x="9872" y="24181"/>
                    </a:cubicBezTo>
                    <a:cubicBezTo>
                      <a:pt x="10176" y="24312"/>
                      <a:pt x="10474" y="24374"/>
                      <a:pt x="10766" y="24374"/>
                    </a:cubicBezTo>
                    <a:cubicBezTo>
                      <a:pt x="14394" y="24374"/>
                      <a:pt x="17109" y="14806"/>
                      <a:pt x="18625" y="9073"/>
                    </a:cubicBezTo>
                    <a:cubicBezTo>
                      <a:pt x="20144" y="3277"/>
                      <a:pt x="13429" y="0"/>
                      <a:pt x="13429" y="0"/>
                    </a:cubicBezTo>
                    <a:close/>
                  </a:path>
                </a:pathLst>
              </a:custGeom>
              <a:solidFill>
                <a:srgbClr val="E5A89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3"/>
              <p:cNvSpPr/>
              <p:nvPr/>
            </p:nvSpPr>
            <p:spPr>
              <a:xfrm>
                <a:off x="6719606" y="1569703"/>
                <a:ext cx="231465" cy="303909"/>
              </a:xfrm>
              <a:custGeom>
                <a:rect b="b" l="l" r="r" t="t"/>
                <a:pathLst>
                  <a:path extrusionOk="0" h="18106" w="13790">
                    <a:moveTo>
                      <a:pt x="9113" y="0"/>
                    </a:moveTo>
                    <a:lnTo>
                      <a:pt x="1" y="8553"/>
                    </a:lnTo>
                    <a:lnTo>
                      <a:pt x="6076" y="18106"/>
                    </a:lnTo>
                    <a:lnTo>
                      <a:pt x="13790" y="9632"/>
                    </a:lnTo>
                    <a:lnTo>
                      <a:pt x="9113" y="0"/>
                    </a:lnTo>
                    <a:close/>
                  </a:path>
                </a:pathLst>
              </a:custGeom>
              <a:solidFill>
                <a:srgbClr val="E5A89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6887313" y="1681050"/>
                <a:ext cx="50338" cy="113399"/>
              </a:xfrm>
              <a:custGeom>
                <a:rect b="b" l="l" r="r" t="t"/>
                <a:pathLst>
                  <a:path extrusionOk="0" h="6756" w="2999">
                    <a:moveTo>
                      <a:pt x="1" y="1"/>
                    </a:moveTo>
                    <a:lnTo>
                      <a:pt x="360" y="6755"/>
                    </a:lnTo>
                    <a:lnTo>
                      <a:pt x="2998" y="3918"/>
                    </a:lnTo>
                    <a:cubicBezTo>
                      <a:pt x="2998" y="3918"/>
                      <a:pt x="840" y="920"/>
                      <a:pt x="1" y="1"/>
                    </a:cubicBezTo>
                    <a:close/>
                  </a:path>
                </a:pathLst>
              </a:custGeom>
              <a:solidFill>
                <a:srgbClr val="21202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6769254" y="1331418"/>
                <a:ext cx="326720" cy="301375"/>
              </a:xfrm>
              <a:custGeom>
                <a:rect b="b" l="l" r="r" t="t"/>
                <a:pathLst>
                  <a:path extrusionOk="0" h="17955" w="19465">
                    <a:moveTo>
                      <a:pt x="8427" y="1"/>
                    </a:moveTo>
                    <a:cubicBezTo>
                      <a:pt x="7223" y="1"/>
                      <a:pt x="5992" y="231"/>
                      <a:pt x="4797" y="808"/>
                    </a:cubicBezTo>
                    <a:cubicBezTo>
                      <a:pt x="1999" y="2167"/>
                      <a:pt x="200" y="4925"/>
                      <a:pt x="80" y="8042"/>
                    </a:cubicBezTo>
                    <a:cubicBezTo>
                      <a:pt x="0" y="10400"/>
                      <a:pt x="360" y="13798"/>
                      <a:pt x="2079" y="17954"/>
                    </a:cubicBezTo>
                    <a:lnTo>
                      <a:pt x="7474" y="12918"/>
                    </a:lnTo>
                    <a:lnTo>
                      <a:pt x="8953" y="13997"/>
                    </a:lnTo>
                    <a:lnTo>
                      <a:pt x="12111" y="11080"/>
                    </a:lnTo>
                    <a:cubicBezTo>
                      <a:pt x="12111" y="11080"/>
                      <a:pt x="19465" y="10041"/>
                      <a:pt x="17426" y="3526"/>
                    </a:cubicBezTo>
                    <a:cubicBezTo>
                      <a:pt x="17426" y="3526"/>
                      <a:pt x="13140" y="1"/>
                      <a:pt x="8427" y="1"/>
                    </a:cubicBezTo>
                    <a:close/>
                  </a:path>
                </a:pathLst>
              </a:custGeom>
              <a:solidFill>
                <a:srgbClr val="21202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7078501" y="1597196"/>
                <a:ext cx="48895" cy="86040"/>
              </a:xfrm>
              <a:custGeom>
                <a:rect b="b" l="l" r="r" t="t"/>
                <a:pathLst>
                  <a:path extrusionOk="0" h="5126" w="2913">
                    <a:moveTo>
                      <a:pt x="1679" y="1"/>
                    </a:moveTo>
                    <a:lnTo>
                      <a:pt x="0" y="4437"/>
                    </a:lnTo>
                    <a:lnTo>
                      <a:pt x="1559" y="5117"/>
                    </a:lnTo>
                    <a:cubicBezTo>
                      <a:pt x="1579" y="5123"/>
                      <a:pt x="1599" y="5125"/>
                      <a:pt x="1621" y="5125"/>
                    </a:cubicBezTo>
                    <a:cubicBezTo>
                      <a:pt x="2050" y="5125"/>
                      <a:pt x="2912" y="4058"/>
                      <a:pt x="2798" y="3678"/>
                    </a:cubicBez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E5A89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33"/>
              <p:cNvSpPr/>
              <p:nvPr/>
            </p:nvSpPr>
            <p:spPr>
              <a:xfrm>
                <a:off x="6811583" y="1495232"/>
                <a:ext cx="130101" cy="108112"/>
              </a:xfrm>
              <a:custGeom>
                <a:rect b="b" l="l" r="r" t="t"/>
                <a:pathLst>
                  <a:path extrusionOk="0" h="6441" w="7751">
                    <a:moveTo>
                      <a:pt x="3522" y="0"/>
                    </a:moveTo>
                    <a:cubicBezTo>
                      <a:pt x="1961" y="0"/>
                      <a:pt x="572" y="1132"/>
                      <a:pt x="356" y="2719"/>
                    </a:cubicBezTo>
                    <a:cubicBezTo>
                      <a:pt x="1" y="4821"/>
                      <a:pt x="1685" y="6440"/>
                      <a:pt x="3524" y="6440"/>
                    </a:cubicBezTo>
                    <a:cubicBezTo>
                      <a:pt x="4168" y="6440"/>
                      <a:pt x="4831" y="6242"/>
                      <a:pt x="5432" y="5796"/>
                    </a:cubicBezTo>
                    <a:cubicBezTo>
                      <a:pt x="7750" y="4117"/>
                      <a:pt x="6871" y="480"/>
                      <a:pt x="4033" y="41"/>
                    </a:cubicBezTo>
                    <a:cubicBezTo>
                      <a:pt x="3862" y="13"/>
                      <a:pt x="3691" y="0"/>
                      <a:pt x="3522" y="0"/>
                    </a:cubicBezTo>
                    <a:close/>
                  </a:path>
                </a:pathLst>
              </a:custGeom>
              <a:solidFill>
                <a:srgbClr val="E5A89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33"/>
              <p:cNvSpPr/>
              <p:nvPr/>
            </p:nvSpPr>
            <p:spPr>
              <a:xfrm>
                <a:off x="6859149" y="1524251"/>
                <a:ext cx="33553" cy="50825"/>
              </a:xfrm>
              <a:custGeom>
                <a:rect b="b" l="l" r="r" t="t"/>
                <a:pathLst>
                  <a:path extrusionOk="0" h="3028" w="1999">
                    <a:moveTo>
                      <a:pt x="140" y="0"/>
                    </a:moveTo>
                    <a:cubicBezTo>
                      <a:pt x="100" y="0"/>
                      <a:pt x="60" y="10"/>
                      <a:pt x="40" y="30"/>
                    </a:cubicBezTo>
                    <a:cubicBezTo>
                      <a:pt x="0" y="110"/>
                      <a:pt x="0" y="190"/>
                      <a:pt x="40" y="270"/>
                    </a:cubicBezTo>
                    <a:cubicBezTo>
                      <a:pt x="1639" y="1469"/>
                      <a:pt x="1159" y="2788"/>
                      <a:pt x="1159" y="2868"/>
                    </a:cubicBezTo>
                    <a:cubicBezTo>
                      <a:pt x="1119" y="2908"/>
                      <a:pt x="1159" y="2988"/>
                      <a:pt x="1239" y="3028"/>
                    </a:cubicBezTo>
                    <a:lnTo>
                      <a:pt x="1279" y="3028"/>
                    </a:lnTo>
                    <a:cubicBezTo>
                      <a:pt x="1359" y="3028"/>
                      <a:pt x="1399" y="3028"/>
                      <a:pt x="1439" y="2988"/>
                    </a:cubicBezTo>
                    <a:cubicBezTo>
                      <a:pt x="1439" y="2948"/>
                      <a:pt x="1998" y="1389"/>
                      <a:pt x="240" y="30"/>
                    </a:cubicBezTo>
                    <a:cubicBezTo>
                      <a:pt x="220" y="10"/>
                      <a:pt x="180" y="0"/>
                      <a:pt x="1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33"/>
              <p:cNvSpPr/>
              <p:nvPr/>
            </p:nvSpPr>
            <p:spPr>
              <a:xfrm>
                <a:off x="6902939" y="1277356"/>
                <a:ext cx="74962" cy="61618"/>
              </a:xfrm>
              <a:custGeom>
                <a:rect b="b" l="l" r="r" t="t"/>
                <a:pathLst>
                  <a:path extrusionOk="0" h="3671" w="4466">
                    <a:moveTo>
                      <a:pt x="2109" y="0"/>
                    </a:moveTo>
                    <a:cubicBezTo>
                      <a:pt x="1302" y="0"/>
                      <a:pt x="580" y="526"/>
                      <a:pt x="349" y="1351"/>
                    </a:cubicBezTo>
                    <a:cubicBezTo>
                      <a:pt x="0" y="2586"/>
                      <a:pt x="981" y="3670"/>
                      <a:pt x="2119" y="3670"/>
                    </a:cubicBezTo>
                    <a:cubicBezTo>
                      <a:pt x="2418" y="3670"/>
                      <a:pt x="2727" y="3596"/>
                      <a:pt x="3026" y="3430"/>
                    </a:cubicBezTo>
                    <a:cubicBezTo>
                      <a:pt x="4465" y="2630"/>
                      <a:pt x="4186" y="472"/>
                      <a:pt x="2627" y="72"/>
                    </a:cubicBezTo>
                    <a:cubicBezTo>
                      <a:pt x="2453" y="24"/>
                      <a:pt x="2279" y="0"/>
                      <a:pt x="2109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33"/>
              <p:cNvSpPr/>
              <p:nvPr/>
            </p:nvSpPr>
            <p:spPr>
              <a:xfrm>
                <a:off x="7123448" y="1428162"/>
                <a:ext cx="209997" cy="50993"/>
              </a:xfrm>
              <a:custGeom>
                <a:rect b="b" l="l" r="r" t="t"/>
                <a:pathLst>
                  <a:path extrusionOk="0" h="3038" w="12511">
                    <a:moveTo>
                      <a:pt x="0" y="0"/>
                    </a:moveTo>
                    <a:lnTo>
                      <a:pt x="2278" y="2918"/>
                    </a:lnTo>
                    <a:lnTo>
                      <a:pt x="11511" y="3038"/>
                    </a:lnTo>
                    <a:cubicBezTo>
                      <a:pt x="12110" y="3038"/>
                      <a:pt x="12510" y="2478"/>
                      <a:pt x="12390" y="1919"/>
                    </a:cubicBezTo>
                    <a:cubicBezTo>
                      <a:pt x="12310" y="1519"/>
                      <a:pt x="11951" y="1239"/>
                      <a:pt x="11551" y="119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33"/>
              <p:cNvSpPr/>
              <p:nvPr/>
            </p:nvSpPr>
            <p:spPr>
              <a:xfrm>
                <a:off x="6755834" y="1300904"/>
                <a:ext cx="405878" cy="176233"/>
              </a:xfrm>
              <a:custGeom>
                <a:rect b="b" l="l" r="r" t="t"/>
                <a:pathLst>
                  <a:path extrusionOk="0" h="10476" w="24181">
                    <a:moveTo>
                      <a:pt x="11040" y="0"/>
                    </a:moveTo>
                    <a:cubicBezTo>
                      <a:pt x="977" y="0"/>
                      <a:pt x="0" y="10196"/>
                      <a:pt x="0" y="10196"/>
                    </a:cubicBezTo>
                    <a:lnTo>
                      <a:pt x="24180" y="10476"/>
                    </a:lnTo>
                    <a:cubicBezTo>
                      <a:pt x="24180" y="10476"/>
                      <a:pt x="21782" y="204"/>
                      <a:pt x="11391" y="4"/>
                    </a:cubicBezTo>
                    <a:cubicBezTo>
                      <a:pt x="11273" y="1"/>
                      <a:pt x="11156" y="0"/>
                      <a:pt x="11040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33"/>
              <p:cNvSpPr/>
              <p:nvPr/>
            </p:nvSpPr>
            <p:spPr>
              <a:xfrm>
                <a:off x="7066433" y="1583684"/>
                <a:ext cx="32647" cy="27947"/>
              </a:xfrm>
              <a:custGeom>
                <a:rect b="b" l="l" r="r" t="t"/>
                <a:pathLst>
                  <a:path extrusionOk="0" h="1665" w="1945">
                    <a:moveTo>
                      <a:pt x="934" y="1"/>
                    </a:moveTo>
                    <a:cubicBezTo>
                      <a:pt x="632" y="1"/>
                      <a:pt x="334" y="161"/>
                      <a:pt x="200" y="486"/>
                    </a:cubicBezTo>
                    <a:cubicBezTo>
                      <a:pt x="0" y="886"/>
                      <a:pt x="160" y="1405"/>
                      <a:pt x="600" y="1565"/>
                    </a:cubicBezTo>
                    <a:cubicBezTo>
                      <a:pt x="722" y="1634"/>
                      <a:pt x="849" y="1665"/>
                      <a:pt x="972" y="1665"/>
                    </a:cubicBezTo>
                    <a:cubicBezTo>
                      <a:pt x="1492" y="1665"/>
                      <a:pt x="1945" y="1115"/>
                      <a:pt x="1719" y="566"/>
                    </a:cubicBezTo>
                    <a:cubicBezTo>
                      <a:pt x="1594" y="191"/>
                      <a:pt x="1262" y="1"/>
                      <a:pt x="934" y="1"/>
                    </a:cubicBezTo>
                    <a:close/>
                  </a:path>
                </a:pathLst>
              </a:custGeom>
              <a:solidFill>
                <a:srgbClr val="21202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33"/>
              <p:cNvSpPr/>
              <p:nvPr/>
            </p:nvSpPr>
            <p:spPr>
              <a:xfrm>
                <a:off x="7028182" y="1516699"/>
                <a:ext cx="87903" cy="27527"/>
              </a:xfrm>
              <a:custGeom>
                <a:rect b="b" l="l" r="r" t="t"/>
                <a:pathLst>
                  <a:path extrusionOk="0" h="1640" w="5237">
                    <a:moveTo>
                      <a:pt x="2639" y="1"/>
                    </a:moveTo>
                    <a:cubicBezTo>
                      <a:pt x="1520" y="41"/>
                      <a:pt x="520" y="680"/>
                      <a:pt x="1" y="1639"/>
                    </a:cubicBezTo>
                    <a:lnTo>
                      <a:pt x="5237" y="1599"/>
                    </a:lnTo>
                    <a:cubicBezTo>
                      <a:pt x="4717" y="640"/>
                      <a:pt x="3718" y="1"/>
                      <a:pt x="2639" y="1"/>
                    </a:cubicBezTo>
                    <a:close/>
                  </a:path>
                </a:pathLst>
              </a:custGeom>
              <a:solidFill>
                <a:srgbClr val="212021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33"/>
              <p:cNvSpPr/>
              <p:nvPr/>
            </p:nvSpPr>
            <p:spPr>
              <a:xfrm>
                <a:off x="6887984" y="1603909"/>
                <a:ext cx="244876" cy="176259"/>
              </a:xfrm>
              <a:custGeom>
                <a:rect b="b" l="l" r="r" t="t"/>
                <a:pathLst>
                  <a:path extrusionOk="0" h="10501" w="14589">
                    <a:moveTo>
                      <a:pt x="2479" y="1"/>
                    </a:moveTo>
                    <a:lnTo>
                      <a:pt x="1" y="4597"/>
                    </a:lnTo>
                    <a:lnTo>
                      <a:pt x="3398" y="9073"/>
                    </a:lnTo>
                    <a:cubicBezTo>
                      <a:pt x="4565" y="10084"/>
                      <a:pt x="5773" y="10501"/>
                      <a:pt x="6954" y="10501"/>
                    </a:cubicBezTo>
                    <a:cubicBezTo>
                      <a:pt x="9694" y="10501"/>
                      <a:pt x="12289" y="8258"/>
                      <a:pt x="13909" y="5996"/>
                    </a:cubicBezTo>
                    <a:cubicBezTo>
                      <a:pt x="14589" y="4957"/>
                      <a:pt x="14349" y="4437"/>
                      <a:pt x="14229" y="3078"/>
                    </a:cubicBezTo>
                    <a:cubicBezTo>
                      <a:pt x="10152" y="2718"/>
                      <a:pt x="6196" y="1679"/>
                      <a:pt x="2479" y="1"/>
                    </a:cubicBezTo>
                    <a:close/>
                  </a:path>
                </a:pathLst>
              </a:custGeom>
              <a:solidFill>
                <a:srgbClr val="FDFBF9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33"/>
              <p:cNvSpPr/>
              <p:nvPr/>
            </p:nvSpPr>
            <p:spPr>
              <a:xfrm>
                <a:off x="6918179" y="1561647"/>
                <a:ext cx="16114" cy="79175"/>
              </a:xfrm>
              <a:custGeom>
                <a:rect b="b" l="l" r="r" t="t"/>
                <a:pathLst>
                  <a:path extrusionOk="0" h="4717" w="960">
                    <a:moveTo>
                      <a:pt x="560" y="1"/>
                    </a:moveTo>
                    <a:lnTo>
                      <a:pt x="0" y="41"/>
                    </a:lnTo>
                    <a:lnTo>
                      <a:pt x="400" y="4717"/>
                    </a:lnTo>
                    <a:lnTo>
                      <a:pt x="959" y="4677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FDFBF9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33"/>
              <p:cNvSpPr/>
              <p:nvPr/>
            </p:nvSpPr>
            <p:spPr>
              <a:xfrm>
                <a:off x="6838354" y="1597867"/>
                <a:ext cx="58378" cy="84546"/>
              </a:xfrm>
              <a:custGeom>
                <a:rect b="b" l="l" r="r" t="t"/>
                <a:pathLst>
                  <a:path extrusionOk="0" h="5037" w="3478">
                    <a:moveTo>
                      <a:pt x="480" y="1"/>
                    </a:moveTo>
                    <a:lnTo>
                      <a:pt x="0" y="281"/>
                    </a:lnTo>
                    <a:lnTo>
                      <a:pt x="2998" y="5037"/>
                    </a:lnTo>
                    <a:lnTo>
                      <a:pt x="3477" y="4717"/>
                    </a:lnTo>
                    <a:lnTo>
                      <a:pt x="480" y="1"/>
                    </a:lnTo>
                    <a:close/>
                  </a:path>
                </a:pathLst>
              </a:custGeom>
              <a:solidFill>
                <a:srgbClr val="FDFBF9"/>
              </a:solidFill>
              <a:ln>
                <a:noFill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33"/>
              <p:cNvSpPr/>
              <p:nvPr/>
            </p:nvSpPr>
            <p:spPr>
              <a:xfrm>
                <a:off x="5216976" y="4356975"/>
                <a:ext cx="2833039" cy="17"/>
              </a:xfrm>
              <a:custGeom>
                <a:rect b="b" l="l" r="r" t="t"/>
                <a:pathLst>
                  <a:path extrusionOk="0" fill="none" h="1" w="168784">
                    <a:moveTo>
                      <a:pt x="0" y="0"/>
                    </a:moveTo>
                    <a:lnTo>
                      <a:pt x="168783" y="0"/>
                    </a:lnTo>
                  </a:path>
                </a:pathLst>
              </a:custGeom>
              <a:noFill/>
              <a:ln cap="rnd" cmpd="sng" w="11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7700" lIns="87700" spcFirstLastPara="1" rIns="87700" wrap="square" tIns="87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6" name="Google Shape;506;p33"/>
          <p:cNvSpPr txBox="1"/>
          <p:nvPr>
            <p:ph type="title"/>
          </p:nvPr>
        </p:nvSpPr>
        <p:spPr>
          <a:xfrm>
            <a:off x="1027200" y="284600"/>
            <a:ext cx="7089600" cy="10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Problems: High Churns after Trails 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773225" y="1138950"/>
            <a:ext cx="56742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The Challenges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150">
                <a:latin typeface="Lato"/>
                <a:ea typeface="Lato"/>
                <a:cs typeface="Lato"/>
                <a:sym typeface="Lato"/>
              </a:rPr>
              <a:t>Uber One has strong sign-up growth of </a:t>
            </a:r>
            <a:r>
              <a:rPr b="1" lang="en" sz="1150">
                <a:latin typeface="Lato"/>
                <a:ea typeface="Lato"/>
                <a:cs typeface="Lato"/>
                <a:sym typeface="Lato"/>
              </a:rPr>
              <a:t>30%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, but </a:t>
            </a:r>
            <a:r>
              <a:rPr b="1" lang="en" sz="1150">
                <a:latin typeface="Lato"/>
                <a:ea typeface="Lato"/>
                <a:cs typeface="Lato"/>
                <a:sym typeface="Lato"/>
              </a:rPr>
              <a:t>40%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 of members churn within 3 months.</a:t>
            </a:r>
            <a:endParaRPr sz="1150">
              <a:latin typeface="Lato"/>
              <a:ea typeface="Lato"/>
              <a:cs typeface="Lato"/>
              <a:sym typeface="La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○"/>
            </a:pPr>
            <a:r>
              <a:rPr lang="en" sz="1150">
                <a:latin typeface="Lato"/>
                <a:ea typeface="Lato"/>
                <a:cs typeface="Lato"/>
                <a:sym typeface="Lato"/>
              </a:rPr>
              <a:t>Users’ perceived value drops sharply once the trial ends.</a:t>
            </a:r>
            <a:endParaRPr sz="1150">
              <a:latin typeface="Lato"/>
              <a:ea typeface="Lato"/>
              <a:cs typeface="Lato"/>
              <a:sym typeface="La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○"/>
            </a:pPr>
            <a:r>
              <a:rPr lang="en" sz="1150">
                <a:latin typeface="Lato"/>
                <a:ea typeface="Lato"/>
                <a:cs typeface="Lato"/>
                <a:sym typeface="Lato"/>
              </a:rPr>
              <a:t>Churn reduces subscription revenue and weakens engagement across Rides and Eats.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What we asked?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08" name="Google Shape;508;p33"/>
          <p:cNvSpPr txBox="1"/>
          <p:nvPr/>
        </p:nvSpPr>
        <p:spPr>
          <a:xfrm>
            <a:off x="877825" y="2962600"/>
            <a:ext cx="5624100" cy="7308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885DA7"/>
                </a:solidFill>
                <a:latin typeface="Lato"/>
                <a:ea typeface="Lato"/>
                <a:cs typeface="Lato"/>
                <a:sym typeface="Lato"/>
              </a:rPr>
              <a:t>Why are users not converting after the trial and what behaviors predict churn?</a:t>
            </a:r>
            <a:endParaRPr b="1" sz="2000">
              <a:solidFill>
                <a:srgbClr val="885DA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" name="Google Shape;509;p33"/>
          <p:cNvSpPr/>
          <p:nvPr/>
        </p:nvSpPr>
        <p:spPr>
          <a:xfrm flipH="1" rot="10800000">
            <a:off x="1104375" y="3693400"/>
            <a:ext cx="761100" cy="730800"/>
          </a:xfrm>
          <a:prstGeom prst="bentArrow">
            <a:avLst>
              <a:gd fmla="val 25000" name="adj1"/>
              <a:gd fmla="val 25210" name="adj2"/>
              <a:gd fmla="val 37202" name="adj3"/>
              <a:gd fmla="val 43750" name="adj4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0" name="Google Shape;510;p33"/>
          <p:cNvSpPr/>
          <p:nvPr/>
        </p:nvSpPr>
        <p:spPr>
          <a:xfrm>
            <a:off x="2210125" y="3959950"/>
            <a:ext cx="3648300" cy="833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Lato"/>
              <a:buChar char="●"/>
            </a:pPr>
            <a:r>
              <a:rPr b="1" lang="en"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identify which members are most at risk</a:t>
            </a:r>
            <a:endParaRPr b="1" sz="11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Lato"/>
              <a:buChar char="●"/>
            </a:pPr>
            <a:r>
              <a:rPr b="1" lang="en"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understand why they churn</a:t>
            </a:r>
            <a:endParaRPr b="1" sz="11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Lato"/>
              <a:buChar char="●"/>
            </a:pPr>
            <a:r>
              <a:rPr b="1" lang="en"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develop targeted retention strategies.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/>
          <p:nvPr/>
        </p:nvSpPr>
        <p:spPr>
          <a:xfrm>
            <a:off x="6132468" y="1029507"/>
            <a:ext cx="2664000" cy="32559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" name="Google Shape;516;p34"/>
          <p:cNvSpPr txBox="1"/>
          <p:nvPr/>
        </p:nvSpPr>
        <p:spPr>
          <a:xfrm>
            <a:off x="6251191" y="1211359"/>
            <a:ext cx="24270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  </a:t>
            </a:r>
            <a:r>
              <a:rPr b="1" lang="en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Tools Used</a:t>
            </a:r>
            <a:endParaRPr b="1"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Excel</a:t>
            </a:r>
            <a:endParaRPr b="1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Tableau</a:t>
            </a:r>
            <a:endParaRPr b="1"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7" name="Google Shape;517;p34"/>
          <p:cNvSpPr txBox="1"/>
          <p:nvPr>
            <p:ph type="title"/>
          </p:nvPr>
        </p:nvSpPr>
        <p:spPr>
          <a:xfrm>
            <a:off x="276075" y="158569"/>
            <a:ext cx="63423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Methods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441440" y="1028268"/>
            <a:ext cx="2664000" cy="325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  </a:t>
            </a:r>
            <a:r>
              <a:rPr b="1" lang="en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Data Source</a:t>
            </a:r>
            <a:endParaRPr b="1"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Source: Simulated Dataset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Sheet 1: User information</a:t>
            </a:r>
            <a:endParaRPr b="1" i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Demographic data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Membership status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Purchase behaviors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Sheet 2: Transactions data</a:t>
            </a:r>
            <a:endParaRPr b="1" i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ID &amp; location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Product type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Order value/ revenue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9" name="Google Shape;519;p34"/>
          <p:cNvSpPr/>
          <p:nvPr/>
        </p:nvSpPr>
        <p:spPr>
          <a:xfrm>
            <a:off x="3286972" y="1076744"/>
            <a:ext cx="2664000" cy="3207600"/>
          </a:xfrm>
          <a:prstGeom prst="roundRect">
            <a:avLst>
              <a:gd fmla="val 16667" name="adj"/>
            </a:avLst>
          </a:prstGeom>
          <a:solidFill>
            <a:srgbClr val="F2EC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0" name="Google Shape;520;p34" title="hd-microsoft-excel-logo-transparent-png-701751694777434h7pkvogbjk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000" y="2212835"/>
            <a:ext cx="718325" cy="6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4"/>
          <p:cNvSpPr txBox="1"/>
          <p:nvPr/>
        </p:nvSpPr>
        <p:spPr>
          <a:xfrm>
            <a:off x="3431440" y="1238866"/>
            <a:ext cx="24270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b="1" lang="en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Methods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Geographic visual: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choropleth map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Line chart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Bar chart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Scatterplot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Box plot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Pie chart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Sheet → Dashboard → Story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2" name="Google Shape;522;p34" title="Tableau-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5700" y="3023813"/>
            <a:ext cx="2037554" cy="10755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3" name="Google Shape;523;p34"/>
          <p:cNvGrpSpPr/>
          <p:nvPr/>
        </p:nvGrpSpPr>
        <p:grpSpPr>
          <a:xfrm>
            <a:off x="3908386" y="1342662"/>
            <a:ext cx="278494" cy="261110"/>
            <a:chOff x="-65131525" y="2281350"/>
            <a:chExt cx="316650" cy="316650"/>
          </a:xfrm>
        </p:grpSpPr>
        <p:sp>
          <p:nvSpPr>
            <p:cNvPr id="524" name="Google Shape;524;p34"/>
            <p:cNvSpPr/>
            <p:nvPr/>
          </p:nvSpPr>
          <p:spPr>
            <a:xfrm>
              <a:off x="-65131525" y="2322300"/>
              <a:ext cx="275675" cy="275700"/>
            </a:xfrm>
            <a:custGeom>
              <a:rect b="b" l="l" r="r" t="t"/>
              <a:pathLst>
                <a:path extrusionOk="0" h="11028" w="11027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5175" lIns="65175" spcFirstLastPara="1" rIns="65175" wrap="square" tIns="65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-64963775" y="2281350"/>
              <a:ext cx="148900" cy="148875"/>
            </a:xfrm>
            <a:custGeom>
              <a:rect b="b" l="l" r="r" t="t"/>
              <a:pathLst>
                <a:path extrusionOk="0" h="5955" w="5956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5175" lIns="65175" spcFirstLastPara="1" rIns="65175" wrap="square" tIns="65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6" name="Google Shape;526;p34"/>
          <p:cNvGrpSpPr/>
          <p:nvPr/>
        </p:nvGrpSpPr>
        <p:grpSpPr>
          <a:xfrm>
            <a:off x="901980" y="1353551"/>
            <a:ext cx="278494" cy="267054"/>
            <a:chOff x="-62150375" y="2664925"/>
            <a:chExt cx="316650" cy="318225"/>
          </a:xfrm>
        </p:grpSpPr>
        <p:sp>
          <p:nvSpPr>
            <p:cNvPr id="527" name="Google Shape;527;p34"/>
            <p:cNvSpPr/>
            <p:nvPr/>
          </p:nvSpPr>
          <p:spPr>
            <a:xfrm>
              <a:off x="-62150375" y="2961850"/>
              <a:ext cx="316650" cy="21300"/>
            </a:xfrm>
            <a:custGeom>
              <a:rect b="b" l="l" r="r" t="t"/>
              <a:pathLst>
                <a:path extrusionOk="0" h="852" w="12666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6325" lIns="66325" spcFirstLastPara="1" rIns="66325" wrap="square" tIns="6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-62150375" y="2838200"/>
              <a:ext cx="82725" cy="102400"/>
            </a:xfrm>
            <a:custGeom>
              <a:rect b="b" l="l" r="r" t="t"/>
              <a:pathLst>
                <a:path extrusionOk="0" h="4096" w="3309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6325" lIns="66325" spcFirstLastPara="1" rIns="66325" wrap="square" tIns="6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-62033800" y="2664925"/>
              <a:ext cx="82725" cy="274900"/>
            </a:xfrm>
            <a:custGeom>
              <a:rect b="b" l="l" r="r" t="t"/>
              <a:pathLst>
                <a:path extrusionOk="0" h="10996" w="3309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6325" lIns="66325" spcFirstLastPara="1" rIns="66325" wrap="square" tIns="6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4"/>
            <p:cNvSpPr/>
            <p:nvPr/>
          </p:nvSpPr>
          <p:spPr>
            <a:xfrm>
              <a:off x="-61917225" y="2754700"/>
              <a:ext cx="83500" cy="185900"/>
            </a:xfrm>
            <a:custGeom>
              <a:rect b="b" l="l" r="r" t="t"/>
              <a:pathLst>
                <a:path extrusionOk="0" h="7436" w="3340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6325" lIns="66325" spcFirstLastPara="1" rIns="66325" wrap="square" tIns="6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" name="Google Shape;531;p34"/>
          <p:cNvGrpSpPr/>
          <p:nvPr/>
        </p:nvGrpSpPr>
        <p:grpSpPr>
          <a:xfrm>
            <a:off x="6689304" y="1300885"/>
            <a:ext cx="278487" cy="265716"/>
            <a:chOff x="-63252250" y="1930850"/>
            <a:chExt cx="319000" cy="319025"/>
          </a:xfrm>
        </p:grpSpPr>
        <p:sp>
          <p:nvSpPr>
            <p:cNvPr id="532" name="Google Shape;532;p34"/>
            <p:cNvSpPr/>
            <p:nvPr/>
          </p:nvSpPr>
          <p:spPr>
            <a:xfrm>
              <a:off x="-63252250" y="1930850"/>
              <a:ext cx="319000" cy="319025"/>
            </a:xfrm>
            <a:custGeom>
              <a:rect b="b" l="l" r="r" t="t"/>
              <a:pathLst>
                <a:path extrusionOk="0" h="12761" w="1276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5825" lIns="65825" spcFirstLastPara="1" rIns="65825" wrap="square" tIns="65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-63160900" y="2021425"/>
              <a:ext cx="137850" cy="137850"/>
            </a:xfrm>
            <a:custGeom>
              <a:rect b="b" l="l" r="r" t="t"/>
              <a:pathLst>
                <a:path extrusionOk="0" h="5514" w="5514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5825" lIns="65825" spcFirstLastPara="1" rIns="65825" wrap="square" tIns="65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5"/>
          <p:cNvSpPr txBox="1"/>
          <p:nvPr>
            <p:ph type="title"/>
          </p:nvPr>
        </p:nvSpPr>
        <p:spPr>
          <a:xfrm>
            <a:off x="276075" y="85025"/>
            <a:ext cx="63423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35" title="Screenshot 2025-11-30 at 02.11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075" y="732788"/>
            <a:ext cx="4123727" cy="312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5" title="Screenshot 2025-11-24 at 2.20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2625" y="1848100"/>
            <a:ext cx="3978575" cy="345442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5"/>
          <p:cNvSpPr/>
          <p:nvPr/>
        </p:nvSpPr>
        <p:spPr>
          <a:xfrm>
            <a:off x="348638" y="3981625"/>
            <a:ext cx="3978600" cy="1245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AutoNum type="arabicPeriod"/>
            </a:pPr>
            <a:r>
              <a:rPr b="1" lang="en" sz="1150">
                <a:latin typeface="Lato"/>
                <a:ea typeface="Lato"/>
                <a:cs typeface="Lato"/>
                <a:sym typeface="Lato"/>
              </a:rPr>
              <a:t>California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lang="en" sz="1150">
                <a:solidFill>
                  <a:srgbClr val="101010"/>
                </a:solidFill>
                <a:latin typeface="Lato"/>
                <a:ea typeface="Lato"/>
                <a:cs typeface="Lato"/>
                <a:sym typeface="Lato"/>
              </a:rPr>
              <a:t>New York</a:t>
            </a:r>
            <a:r>
              <a:rPr lang="en" sz="1150">
                <a:solidFill>
                  <a:srgbClr val="10101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represent Uber One’s strongest and most engaged member bases.</a:t>
            </a:r>
            <a:endParaRPr sz="1150">
              <a:latin typeface="Lato"/>
              <a:ea typeface="Lato"/>
              <a:cs typeface="Lato"/>
              <a:sym typeface="Lato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AutoNum type="arabicPeriod"/>
            </a:pPr>
            <a:r>
              <a:rPr b="1" lang="en" sz="1150">
                <a:latin typeface="Lato"/>
                <a:ea typeface="Lato"/>
                <a:cs typeface="Lato"/>
                <a:sym typeface="Lato"/>
              </a:rPr>
              <a:t>Ohio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lang="en" sz="1150">
                <a:latin typeface="Lato"/>
                <a:ea typeface="Lato"/>
                <a:cs typeface="Lato"/>
                <a:sym typeface="Lato"/>
              </a:rPr>
              <a:t>North Carolina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 show significantly lower usage, highlighting clear opportunities for regional growth strategies or localized promotional efforts.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35"/>
          <p:cNvSpPr/>
          <p:nvPr/>
        </p:nvSpPr>
        <p:spPr>
          <a:xfrm>
            <a:off x="4399800" y="137950"/>
            <a:ext cx="4874100" cy="1565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AutoNum type="arabicPeriod"/>
            </a:pPr>
            <a:r>
              <a:rPr b="1" lang="en"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Eats users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 experience the strongest growth spikes, reflecting higher responsiveness to demand.</a:t>
            </a:r>
            <a:endParaRPr sz="1150">
              <a:latin typeface="Lato"/>
              <a:ea typeface="Lato"/>
              <a:cs typeface="Lato"/>
              <a:sym typeface="Lato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AutoNum type="arabicPeriod"/>
            </a:pPr>
            <a:r>
              <a:rPr b="1" lang="en"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Rides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 are more volatile with a sharp October surge and then decline.</a:t>
            </a:r>
            <a:endParaRPr sz="1150">
              <a:latin typeface="Lato"/>
              <a:ea typeface="Lato"/>
              <a:cs typeface="Lato"/>
              <a:sym typeface="Lato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AutoNum type="arabicPeriod"/>
            </a:pPr>
            <a:r>
              <a:rPr lang="en" sz="1150">
                <a:latin typeface="Lato"/>
                <a:ea typeface="Lato"/>
                <a:cs typeface="Lato"/>
                <a:sym typeface="Lato"/>
              </a:rPr>
              <a:t>Memberships  show noticeable peaks during </a:t>
            </a:r>
            <a:r>
              <a:rPr b="1" lang="en"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seasonal periods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. </a:t>
            </a:r>
            <a:endParaRPr sz="1150">
              <a:latin typeface="Lato"/>
              <a:ea typeface="Lato"/>
              <a:cs typeface="Lato"/>
              <a:sym typeface="Lato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AutoNum type="arabicPeriod"/>
            </a:pPr>
            <a:r>
              <a:rPr b="1" lang="en"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Dual-product users</a:t>
            </a:r>
            <a:r>
              <a:rPr lang="en" sz="1150">
                <a:latin typeface="Lato"/>
                <a:ea typeface="Lato"/>
                <a:cs typeface="Lato"/>
                <a:sym typeface="Lato"/>
              </a:rPr>
              <a:t> exhibit steadier growth</a:t>
            </a:r>
            <a:endParaRPr b="1" sz="115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36"/>
          <p:cNvPicPr preferRelativeResize="0"/>
          <p:nvPr/>
        </p:nvPicPr>
        <p:blipFill rotWithShape="1">
          <a:blip r:embed="rId3">
            <a:alphaModFix/>
          </a:blip>
          <a:srcRect b="14184" l="1081" r="9585" t="1790"/>
          <a:stretch/>
        </p:blipFill>
        <p:spPr>
          <a:xfrm>
            <a:off x="220925" y="803375"/>
            <a:ext cx="6897175" cy="35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6"/>
          <p:cNvSpPr txBox="1"/>
          <p:nvPr>
            <p:ph type="title"/>
          </p:nvPr>
        </p:nvSpPr>
        <p:spPr>
          <a:xfrm>
            <a:off x="-200837" y="703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Behavioral Drivers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6"/>
          <p:cNvSpPr/>
          <p:nvPr/>
        </p:nvSpPr>
        <p:spPr>
          <a:xfrm>
            <a:off x="5967600" y="1129700"/>
            <a:ext cx="3102300" cy="3717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" name="Google Shape;550;p36"/>
          <p:cNvSpPr txBox="1"/>
          <p:nvPr/>
        </p:nvSpPr>
        <p:spPr>
          <a:xfrm>
            <a:off x="3304825" y="4439900"/>
            <a:ext cx="17310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Number of users</a:t>
            </a:r>
            <a:endParaRPr sz="12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1" name="Google Shape;551;p36"/>
          <p:cNvSpPr txBox="1"/>
          <p:nvPr/>
        </p:nvSpPr>
        <p:spPr>
          <a:xfrm>
            <a:off x="5967600" y="1416250"/>
            <a:ext cx="2926800" cy="3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Largest drop-off happens before the </a:t>
            </a:r>
            <a:r>
              <a:rPr b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2nd order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showing most users try the service once but never build a habit.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Driving the </a:t>
            </a:r>
            <a:r>
              <a:rPr b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1st → 2nd order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 critical.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second-order discounts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quick reorder prompts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time-limited offers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portion of low-engagement users likely remain active only because the trial auto-renews, indicating</a:t>
            </a: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passive rather than intentional engagement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124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7"/>
          <p:cNvSpPr/>
          <p:nvPr/>
        </p:nvSpPr>
        <p:spPr>
          <a:xfrm>
            <a:off x="5967600" y="1129700"/>
            <a:ext cx="3035400" cy="3573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p37"/>
          <p:cNvSpPr txBox="1"/>
          <p:nvPr>
            <p:ph type="title"/>
          </p:nvPr>
        </p:nvSpPr>
        <p:spPr>
          <a:xfrm>
            <a:off x="44025" y="160700"/>
            <a:ext cx="72390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Behavioral Patterns &amp; Churn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7"/>
          <p:cNvSpPr txBox="1"/>
          <p:nvPr/>
        </p:nvSpPr>
        <p:spPr>
          <a:xfrm>
            <a:off x="6061375" y="966574"/>
            <a:ext cx="2811600" cy="6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Churned members cluster heavily in the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high-recency, low-frequency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region, indicating declining engagement long before cancellation.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Active users consistently show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lower recency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higher usage frequency</a:t>
            </a:r>
            <a:r>
              <a:rPr b="1" lang="en" sz="1200">
                <a:solidFill>
                  <a:srgbClr val="101010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rgbClr val="10101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demonstrating clear value perception and stronger membership stickiness.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A distinct group of high-spend users is shifting toward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higher recency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, signaling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recoverable high-value churn risks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latin typeface="Lato"/>
                <a:ea typeface="Lato"/>
                <a:cs typeface="Lato"/>
                <a:sym typeface="Lato"/>
              </a:rPr>
            </a:b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9" name="Google Shape;55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725" y="834500"/>
            <a:ext cx="4829475" cy="397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8"/>
          <p:cNvSpPr txBox="1"/>
          <p:nvPr>
            <p:ph type="title"/>
          </p:nvPr>
        </p:nvSpPr>
        <p:spPr>
          <a:xfrm>
            <a:off x="44025" y="134275"/>
            <a:ext cx="90111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 Distribution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565" name="Google Shape;565;p38"/>
          <p:cNvSpPr txBox="1"/>
          <p:nvPr/>
        </p:nvSpPr>
        <p:spPr>
          <a:xfrm>
            <a:off x="4223430" y="4650760"/>
            <a:ext cx="886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575" lIns="110575" spcFirstLastPara="1" rIns="110575" wrap="square" tIns="11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124D"/>
                </a:solidFill>
              </a:rPr>
              <a:t>graph (b)</a:t>
            </a:r>
            <a:endParaRPr sz="1000">
              <a:solidFill>
                <a:srgbClr val="20124D"/>
              </a:solidFill>
            </a:endParaRPr>
          </a:p>
        </p:txBody>
      </p:sp>
      <p:sp>
        <p:nvSpPr>
          <p:cNvPr id="566" name="Google Shape;566;p38"/>
          <p:cNvSpPr txBox="1"/>
          <p:nvPr/>
        </p:nvSpPr>
        <p:spPr>
          <a:xfrm>
            <a:off x="1692164" y="4708775"/>
            <a:ext cx="732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124D"/>
                </a:solidFill>
              </a:rPr>
              <a:t>graph (a)</a:t>
            </a:r>
            <a:endParaRPr sz="1000">
              <a:solidFill>
                <a:srgbClr val="20124D"/>
              </a:solidFill>
            </a:endParaRPr>
          </a:p>
        </p:txBody>
      </p:sp>
      <p:pic>
        <p:nvPicPr>
          <p:cNvPr id="567" name="Google Shape;567;p38" title="Screenshot 2025-12-02 at 2.18.1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75" y="830288"/>
            <a:ext cx="5631130" cy="3878476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8"/>
          <p:cNvSpPr/>
          <p:nvPr/>
        </p:nvSpPr>
        <p:spPr>
          <a:xfrm>
            <a:off x="5794525" y="857475"/>
            <a:ext cx="3102300" cy="1939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5794525" y="2960675"/>
            <a:ext cx="3102300" cy="1777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38"/>
          <p:cNvSpPr txBox="1"/>
          <p:nvPr/>
        </p:nvSpPr>
        <p:spPr>
          <a:xfrm>
            <a:off x="5794525" y="830288"/>
            <a:ext cx="2975700" cy="1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" sz="1200" u="sng">
                <a:latin typeface="Lato"/>
                <a:ea typeface="Lato"/>
                <a:cs typeface="Lato"/>
                <a:sym typeface="Lato"/>
              </a:rPr>
              <a:t>raph A</a:t>
            </a:r>
            <a:endParaRPr sz="1200" u="sng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Ubereats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users show the highest churn rate, roughly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15%</a:t>
            </a: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higher than dual-product users.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Dual-product users have the</a:t>
            </a: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lowest churn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highlighting cross-platform engagement as a key retention driver.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" name="Google Shape;571;p38"/>
          <p:cNvSpPr txBox="1"/>
          <p:nvPr/>
        </p:nvSpPr>
        <p:spPr>
          <a:xfrm>
            <a:off x="5857825" y="3000575"/>
            <a:ext cx="2975700" cy="1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latin typeface="Lato"/>
                <a:ea typeface="Lato"/>
                <a:cs typeface="Lato"/>
                <a:sym typeface="Lato"/>
              </a:rPr>
              <a:t>Graph B </a:t>
            </a:r>
            <a:endParaRPr sz="1200" u="sng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High-recency churned members are split evenly between Rides and Eats, indicating behavioral disengagement,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product preference drives churn</a:t>
            </a: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 sz="1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9"/>
          <p:cNvSpPr/>
          <p:nvPr/>
        </p:nvSpPr>
        <p:spPr>
          <a:xfrm flipH="1">
            <a:off x="3497788" y="2569171"/>
            <a:ext cx="2075400" cy="8769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77" name="Google Shape;577;p39"/>
          <p:cNvSpPr txBox="1"/>
          <p:nvPr>
            <p:ph type="title"/>
          </p:nvPr>
        </p:nvSpPr>
        <p:spPr>
          <a:xfrm>
            <a:off x="638575" y="154500"/>
            <a:ext cx="76770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Uber Eats Churned Members Persona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8" name="Google Shape;578;p39"/>
          <p:cNvPicPr preferRelativeResize="0"/>
          <p:nvPr/>
        </p:nvPicPr>
        <p:blipFill rotWithShape="1">
          <a:blip r:embed="rId3">
            <a:alphaModFix/>
          </a:blip>
          <a:srcRect b="25345" l="0" r="0" t="0"/>
          <a:stretch/>
        </p:blipFill>
        <p:spPr>
          <a:xfrm>
            <a:off x="638575" y="923100"/>
            <a:ext cx="2389326" cy="359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881" y="3569189"/>
            <a:ext cx="5639725" cy="94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9"/>
          <p:cNvPicPr preferRelativeResize="0"/>
          <p:nvPr/>
        </p:nvPicPr>
        <p:blipFill rotWithShape="1">
          <a:blip r:embed="rId5">
            <a:alphaModFix/>
          </a:blip>
          <a:srcRect b="0" l="0" r="23728" t="0"/>
          <a:stretch/>
        </p:blipFill>
        <p:spPr>
          <a:xfrm>
            <a:off x="1414375" y="4410075"/>
            <a:ext cx="753875" cy="11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9"/>
          <p:cNvPicPr preferRelativeResize="0"/>
          <p:nvPr/>
        </p:nvPicPr>
        <p:blipFill rotWithShape="1">
          <a:blip r:embed="rId5">
            <a:alphaModFix/>
          </a:blip>
          <a:srcRect b="-109732" l="68871" r="0" t="0"/>
          <a:stretch/>
        </p:blipFill>
        <p:spPr>
          <a:xfrm>
            <a:off x="2015050" y="4424434"/>
            <a:ext cx="311150" cy="192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9"/>
          <p:cNvSpPr/>
          <p:nvPr/>
        </p:nvSpPr>
        <p:spPr>
          <a:xfrm>
            <a:off x="3445575" y="832068"/>
            <a:ext cx="4952100" cy="1602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83" name="Google Shape;583;p39"/>
          <p:cNvSpPr txBox="1"/>
          <p:nvPr/>
        </p:nvSpPr>
        <p:spPr>
          <a:xfrm>
            <a:off x="3381900" y="832068"/>
            <a:ext cx="48699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 Age distribution is similar across genders.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Users aged 30–40 are the core churn users.</a:t>
            </a:r>
            <a:r>
              <a:rPr lang="en" sz="12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 Both groups have comparable medians and IQR, and 30–40 range is a key segment for churn prevention.</a:t>
            </a:r>
            <a:endParaRPr sz="12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Lato"/>
              <a:buChar char="●"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Males show slightly wider age spread and amount. </a:t>
            </a:r>
            <a:r>
              <a:rPr lang="en" sz="12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The male box is taller, suggesting more variability in age among male churned users. There are also more male churned users overall, as shown in the bar chart.</a:t>
            </a:r>
            <a:endParaRPr sz="12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" name="Google Shape;584;p39"/>
          <p:cNvSpPr txBox="1"/>
          <p:nvPr/>
        </p:nvSpPr>
        <p:spPr>
          <a:xfrm>
            <a:off x="3623348" y="2519611"/>
            <a:ext cx="111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" sz="2500">
                <a:latin typeface="Lato"/>
                <a:ea typeface="Lato"/>
                <a:cs typeface="Lato"/>
                <a:sym typeface="Lato"/>
              </a:rPr>
              <a:t>🎯</a:t>
            </a:r>
            <a:endParaRPr sz="2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Target Users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" name="Google Shape;585;p39"/>
          <p:cNvSpPr txBox="1"/>
          <p:nvPr/>
        </p:nvSpPr>
        <p:spPr>
          <a:xfrm>
            <a:off x="4462713" y="2483918"/>
            <a:ext cx="1183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Age 30-45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Male</a:t>
            </a:r>
            <a:endParaRPr b="1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6" name="Google Shape;586;p39"/>
          <p:cNvSpPr/>
          <p:nvPr/>
        </p:nvSpPr>
        <p:spPr>
          <a:xfrm>
            <a:off x="5875900" y="2558621"/>
            <a:ext cx="2223600" cy="849900"/>
          </a:xfrm>
          <a:prstGeom prst="roundRect">
            <a:avLst>
              <a:gd fmla="val 16667" name="adj"/>
            </a:avLst>
          </a:prstGeom>
          <a:solidFill>
            <a:srgbClr val="F2ECD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87" name="Google Shape;587;p39"/>
          <p:cNvSpPr txBox="1"/>
          <p:nvPr/>
        </p:nvSpPr>
        <p:spPr>
          <a:xfrm>
            <a:off x="6000900" y="2570014"/>
            <a:ext cx="16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Next Step….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Personalized </a:t>
            </a:r>
            <a:endParaRPr b="1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Push!</a:t>
            </a:r>
            <a:endParaRPr b="1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0"/>
          <p:cNvSpPr txBox="1"/>
          <p:nvPr>
            <p:ph type="title"/>
          </p:nvPr>
        </p:nvSpPr>
        <p:spPr>
          <a:xfrm>
            <a:off x="44025" y="143382"/>
            <a:ext cx="72390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Financial Assessment</a:t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93" name="Google Shape;593;p40" title="Screenshot 2025-11-26 at 6.03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004" y="906750"/>
            <a:ext cx="3017523" cy="3326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0" title="Screenshot 2025-11-26 at 6.37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575" y="910381"/>
            <a:ext cx="2890429" cy="332636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0"/>
          <p:cNvSpPr/>
          <p:nvPr/>
        </p:nvSpPr>
        <p:spPr>
          <a:xfrm>
            <a:off x="6416700" y="797263"/>
            <a:ext cx="2389200" cy="1115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" name="Google Shape;596;p40"/>
          <p:cNvSpPr/>
          <p:nvPr/>
        </p:nvSpPr>
        <p:spPr>
          <a:xfrm>
            <a:off x="6416700" y="1983188"/>
            <a:ext cx="2389200" cy="1162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" name="Google Shape;597;p40"/>
          <p:cNvSpPr/>
          <p:nvPr/>
        </p:nvSpPr>
        <p:spPr>
          <a:xfrm>
            <a:off x="6416700" y="3245375"/>
            <a:ext cx="2389200" cy="1115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8" name="Google Shape;598;p40"/>
          <p:cNvSpPr txBox="1"/>
          <p:nvPr/>
        </p:nvSpPr>
        <p:spPr>
          <a:xfrm>
            <a:off x="6546525" y="977188"/>
            <a:ext cx="22050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Uber One’s revenue is driven primarily by </a:t>
            </a:r>
            <a:r>
              <a:rPr b="1" i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Eats-first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users and </a:t>
            </a:r>
            <a:r>
              <a:rPr b="1" i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High-Value</a:t>
            </a:r>
            <a:r>
              <a:rPr b="1" i="1" lang="en" sz="1200">
                <a:solidFill>
                  <a:srgbClr val="10101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members.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9" name="Google Shape;599;p40"/>
          <p:cNvSpPr txBox="1"/>
          <p:nvPr/>
        </p:nvSpPr>
        <p:spPr>
          <a:xfrm>
            <a:off x="6508800" y="1994550"/>
            <a:ext cx="23892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Eats-focused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and cross-product users generate much higher revenue, highlighting Eats engagement as a key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revenue driver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. </a:t>
            </a:r>
            <a:endParaRPr b="1"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" name="Google Shape;600;p40"/>
          <p:cNvSpPr txBox="1"/>
          <p:nvPr/>
        </p:nvSpPr>
        <p:spPr>
          <a:xfrm>
            <a:off x="6508800" y="3331989"/>
            <a:ext cx="22050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High-Value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members, defined by high spending and frequent orders, contribute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3–4×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more revenue than other segments.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1" title="Screenshot 2025-11-26 at 6.49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425" y="726975"/>
            <a:ext cx="5184850" cy="42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1"/>
          <p:cNvSpPr txBox="1"/>
          <p:nvPr>
            <p:ph type="title"/>
          </p:nvPr>
        </p:nvSpPr>
        <p:spPr>
          <a:xfrm>
            <a:off x="44025" y="116960"/>
            <a:ext cx="72390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Financial Assessment</a:t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07" name="Google Shape;607;p41"/>
          <p:cNvSpPr/>
          <p:nvPr/>
        </p:nvSpPr>
        <p:spPr>
          <a:xfrm>
            <a:off x="6083425" y="760275"/>
            <a:ext cx="2749500" cy="1547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08" name="Google Shape;608;p41"/>
          <p:cNvSpPr txBox="1"/>
          <p:nvPr/>
        </p:nvSpPr>
        <p:spPr>
          <a:xfrm>
            <a:off x="6182725" y="895875"/>
            <a:ext cx="2662200" cy="12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The Chart highlights several mid- to high-revenue active members whose recency exceeds </a:t>
            </a: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35</a:t>
            </a: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 days, placing them in the </a:t>
            </a: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churn warning zone</a:t>
            </a: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41"/>
          <p:cNvSpPr/>
          <p:nvPr/>
        </p:nvSpPr>
        <p:spPr>
          <a:xfrm>
            <a:off x="6083425" y="2639225"/>
            <a:ext cx="2749500" cy="199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0" name="Google Shape;610;p41"/>
          <p:cNvSpPr txBox="1"/>
          <p:nvPr/>
        </p:nvSpPr>
        <p:spPr>
          <a:xfrm>
            <a:off x="6231074" y="2852130"/>
            <a:ext cx="2601900" cy="15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The labeled points represent high-revenue, Eats-focused users with prolonged inactivity. These users depict </a:t>
            </a: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future revenue at risk </a:t>
            </a: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and should be </a:t>
            </a: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prioritized</a:t>
            </a: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 for retention campaigns.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2"/>
          <p:cNvSpPr/>
          <p:nvPr/>
        </p:nvSpPr>
        <p:spPr>
          <a:xfrm flipH="1">
            <a:off x="3937612" y="1331840"/>
            <a:ext cx="1083350" cy="6895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101075" lIns="101075" spcFirstLastPara="1" rIns="101075" wrap="square" tIns="101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2"/>
          <p:cNvSpPr/>
          <p:nvPr/>
        </p:nvSpPr>
        <p:spPr>
          <a:xfrm flipH="1">
            <a:off x="6604099" y="1357609"/>
            <a:ext cx="1083350" cy="6895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101075" lIns="101075" spcFirstLastPara="1" rIns="101075" wrap="square" tIns="101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2"/>
          <p:cNvSpPr/>
          <p:nvPr/>
        </p:nvSpPr>
        <p:spPr>
          <a:xfrm flipH="1">
            <a:off x="1390896" y="1331859"/>
            <a:ext cx="1083350" cy="6895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101075" lIns="101075" spcFirstLastPara="1" rIns="101075" wrap="square" tIns="101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2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Strategic Impact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9" name="Google Shape;619;p42"/>
          <p:cNvSpPr txBox="1"/>
          <p:nvPr>
            <p:ph idx="1" type="subTitle"/>
          </p:nvPr>
        </p:nvSpPr>
        <p:spPr>
          <a:xfrm>
            <a:off x="874615" y="2696222"/>
            <a:ext cx="2218500" cy="1569000"/>
          </a:xfrm>
          <a:prstGeom prst="rect">
            <a:avLst/>
          </a:prstGeom>
        </p:spPr>
        <p:txBody>
          <a:bodyPr anchorCtr="0" anchor="t" bIns="116725" lIns="116725" spcFirstLastPara="1" rIns="116725" wrap="square" tIns="116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98">
                <a:latin typeface="Lato"/>
                <a:ea typeface="Lato"/>
                <a:cs typeface="Lato"/>
                <a:sym typeface="Lato"/>
              </a:rPr>
              <a:t>Impact:</a:t>
            </a:r>
            <a:endParaRPr b="0" sz="148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Stronger conversion &amp; retention engine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Revenue protection for High-Value Members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0" name="Google Shape;620;p42" title="Uber-One_Logo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20" y="2052583"/>
            <a:ext cx="2151300" cy="73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42" title="Uber-Eats-Logo-2018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9869" y="1981233"/>
            <a:ext cx="1663600" cy="936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42"/>
          <p:cNvGrpSpPr/>
          <p:nvPr/>
        </p:nvGrpSpPr>
        <p:grpSpPr>
          <a:xfrm>
            <a:off x="3895109" y="2200573"/>
            <a:ext cx="1268168" cy="547983"/>
            <a:chOff x="3580450" y="3147500"/>
            <a:chExt cx="2671514" cy="1154377"/>
          </a:xfrm>
        </p:grpSpPr>
        <p:pic>
          <p:nvPicPr>
            <p:cNvPr id="623" name="Google Shape;623;p42" title="Uber-logo-removebg-preview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80450" y="3147500"/>
              <a:ext cx="1965149" cy="11543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4" name="Google Shape;624;p42" title="images-removebg-preview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77264" y="3303856"/>
              <a:ext cx="774700" cy="8099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5" name="Google Shape;625;p42"/>
          <p:cNvSpPr txBox="1"/>
          <p:nvPr>
            <p:ph idx="1" type="subTitle"/>
          </p:nvPr>
        </p:nvSpPr>
        <p:spPr>
          <a:xfrm>
            <a:off x="3414912" y="2703137"/>
            <a:ext cx="2218500" cy="1883400"/>
          </a:xfrm>
          <a:prstGeom prst="rect">
            <a:avLst/>
          </a:prstGeom>
        </p:spPr>
        <p:txBody>
          <a:bodyPr anchorCtr="0" anchor="t" bIns="116725" lIns="116725" spcFirstLastPara="1" rIns="116725" wrap="square" tIns="116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98">
                <a:latin typeface="Lato"/>
                <a:ea typeface="Lato"/>
                <a:cs typeface="Lato"/>
                <a:sym typeface="Lato"/>
              </a:rPr>
              <a:t>Impact:</a:t>
            </a:r>
            <a:endParaRPr b="0" sz="148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Stabilizing volatile rides sign-up trends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Regional growth opportunities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" name="Google Shape;626;p42"/>
          <p:cNvSpPr txBox="1"/>
          <p:nvPr>
            <p:ph idx="1" type="subTitle"/>
          </p:nvPr>
        </p:nvSpPr>
        <p:spPr>
          <a:xfrm>
            <a:off x="5977318" y="2703158"/>
            <a:ext cx="2348400" cy="1883400"/>
          </a:xfrm>
          <a:prstGeom prst="rect">
            <a:avLst/>
          </a:prstGeom>
        </p:spPr>
        <p:txBody>
          <a:bodyPr anchorCtr="0" anchor="t" bIns="116725" lIns="116725" spcFirstLastPara="1" rIns="116725" wrap="square" tIns="116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latin typeface="Lato"/>
                <a:ea typeface="Lato"/>
                <a:cs typeface="Lato"/>
                <a:sym typeface="Lato"/>
              </a:rPr>
              <a:t>Impact:</a:t>
            </a:r>
            <a:endParaRPr b="0" sz="19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Opportunity for cross-product expansion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Primary platform for churn detection signals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27" name="Google Shape;627;p42"/>
          <p:cNvGrpSpPr/>
          <p:nvPr/>
        </p:nvGrpSpPr>
        <p:grpSpPr>
          <a:xfrm>
            <a:off x="1697575" y="1491538"/>
            <a:ext cx="624070" cy="622349"/>
            <a:chOff x="3599700" y="1954475"/>
            <a:chExt cx="296175" cy="295400"/>
          </a:xfrm>
        </p:grpSpPr>
        <p:sp>
          <p:nvSpPr>
            <p:cNvPr id="628" name="Google Shape;628;p42"/>
            <p:cNvSpPr/>
            <p:nvPr/>
          </p:nvSpPr>
          <p:spPr>
            <a:xfrm>
              <a:off x="3599700" y="1954475"/>
              <a:ext cx="296175" cy="295400"/>
            </a:xfrm>
            <a:custGeom>
              <a:rect b="b" l="l" r="r" t="t"/>
              <a:pathLst>
                <a:path extrusionOk="0" h="11816" w="11847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63250" lIns="163250" spcFirstLastPara="1" rIns="163250" wrap="square" tIns="1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2"/>
            <p:cNvSpPr/>
            <p:nvPr/>
          </p:nvSpPr>
          <p:spPr>
            <a:xfrm>
              <a:off x="3825750" y="2075775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63250" lIns="163250" spcFirstLastPara="1" rIns="163250" wrap="square" tIns="1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2"/>
            <p:cNvSpPr/>
            <p:nvPr/>
          </p:nvSpPr>
          <p:spPr>
            <a:xfrm>
              <a:off x="3633550" y="2075775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63250" lIns="163250" spcFirstLastPara="1" rIns="163250" wrap="square" tIns="1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1" name="Google Shape;631;p42"/>
          <p:cNvSpPr/>
          <p:nvPr/>
        </p:nvSpPr>
        <p:spPr>
          <a:xfrm>
            <a:off x="6941142" y="1484896"/>
            <a:ext cx="624037" cy="687228"/>
          </a:xfrm>
          <a:custGeom>
            <a:rect b="b" l="l" r="r" t="t"/>
            <a:pathLst>
              <a:path extrusionOk="0" h="12193" w="10681">
                <a:moveTo>
                  <a:pt x="8475" y="693"/>
                </a:moveTo>
                <a:cubicBezTo>
                  <a:pt x="8318" y="1513"/>
                  <a:pt x="7562" y="2111"/>
                  <a:pt x="6742" y="2111"/>
                </a:cubicBezTo>
                <a:cubicBezTo>
                  <a:pt x="6333" y="2111"/>
                  <a:pt x="5986" y="2237"/>
                  <a:pt x="5671" y="2426"/>
                </a:cubicBezTo>
                <a:lnTo>
                  <a:pt x="5671" y="1765"/>
                </a:lnTo>
                <a:cubicBezTo>
                  <a:pt x="5671" y="1166"/>
                  <a:pt x="6144" y="693"/>
                  <a:pt x="6742" y="693"/>
                </a:cubicBezTo>
                <a:close/>
                <a:moveTo>
                  <a:pt x="7089" y="4285"/>
                </a:moveTo>
                <a:cubicBezTo>
                  <a:pt x="8853" y="4285"/>
                  <a:pt x="9924" y="5356"/>
                  <a:pt x="9924" y="7120"/>
                </a:cubicBezTo>
                <a:cubicBezTo>
                  <a:pt x="9956" y="8129"/>
                  <a:pt x="9609" y="9231"/>
                  <a:pt x="9074" y="10082"/>
                </a:cubicBezTo>
                <a:cubicBezTo>
                  <a:pt x="8507" y="10933"/>
                  <a:pt x="7814" y="11405"/>
                  <a:pt x="7089" y="11405"/>
                </a:cubicBezTo>
                <a:cubicBezTo>
                  <a:pt x="6931" y="11405"/>
                  <a:pt x="6774" y="11374"/>
                  <a:pt x="6648" y="11342"/>
                </a:cubicBezTo>
                <a:cubicBezTo>
                  <a:pt x="6238" y="11216"/>
                  <a:pt x="5766" y="11122"/>
                  <a:pt x="5325" y="11122"/>
                </a:cubicBezTo>
                <a:cubicBezTo>
                  <a:pt x="4884" y="11122"/>
                  <a:pt x="4411" y="11216"/>
                  <a:pt x="3970" y="11342"/>
                </a:cubicBezTo>
                <a:cubicBezTo>
                  <a:pt x="3812" y="11374"/>
                  <a:pt x="3655" y="11405"/>
                  <a:pt x="3560" y="11405"/>
                </a:cubicBezTo>
                <a:cubicBezTo>
                  <a:pt x="2836" y="11405"/>
                  <a:pt x="2143" y="10901"/>
                  <a:pt x="1576" y="10082"/>
                </a:cubicBezTo>
                <a:cubicBezTo>
                  <a:pt x="1040" y="9200"/>
                  <a:pt x="725" y="8097"/>
                  <a:pt x="725" y="7120"/>
                </a:cubicBezTo>
                <a:cubicBezTo>
                  <a:pt x="725" y="5356"/>
                  <a:pt x="1765" y="4285"/>
                  <a:pt x="3560" y="4285"/>
                </a:cubicBezTo>
                <a:cubicBezTo>
                  <a:pt x="3970" y="4285"/>
                  <a:pt x="4380" y="4348"/>
                  <a:pt x="4726" y="4474"/>
                </a:cubicBezTo>
                <a:cubicBezTo>
                  <a:pt x="4821" y="4506"/>
                  <a:pt x="4884" y="4506"/>
                  <a:pt x="4978" y="4569"/>
                </a:cubicBezTo>
                <a:lnTo>
                  <a:pt x="4978" y="5293"/>
                </a:lnTo>
                <a:cubicBezTo>
                  <a:pt x="4663" y="5262"/>
                  <a:pt x="4348" y="5199"/>
                  <a:pt x="4065" y="5041"/>
                </a:cubicBezTo>
                <a:cubicBezTo>
                  <a:pt x="4021" y="5015"/>
                  <a:pt x="3971" y="5003"/>
                  <a:pt x="3919" y="5003"/>
                </a:cubicBezTo>
                <a:cubicBezTo>
                  <a:pt x="3783" y="5003"/>
                  <a:pt x="3638" y="5084"/>
                  <a:pt x="3592" y="5199"/>
                </a:cubicBezTo>
                <a:cubicBezTo>
                  <a:pt x="3497" y="5356"/>
                  <a:pt x="3592" y="5577"/>
                  <a:pt x="3749" y="5671"/>
                </a:cubicBezTo>
                <a:cubicBezTo>
                  <a:pt x="4254" y="5892"/>
                  <a:pt x="4758" y="6018"/>
                  <a:pt x="5325" y="6018"/>
                </a:cubicBezTo>
                <a:cubicBezTo>
                  <a:pt x="5860" y="6018"/>
                  <a:pt x="6427" y="5892"/>
                  <a:pt x="6900" y="5671"/>
                </a:cubicBezTo>
                <a:cubicBezTo>
                  <a:pt x="7057" y="5577"/>
                  <a:pt x="7120" y="5356"/>
                  <a:pt x="7057" y="5199"/>
                </a:cubicBezTo>
                <a:cubicBezTo>
                  <a:pt x="6989" y="5084"/>
                  <a:pt x="6854" y="5003"/>
                  <a:pt x="6725" y="5003"/>
                </a:cubicBezTo>
                <a:cubicBezTo>
                  <a:pt x="6676" y="5003"/>
                  <a:pt x="6628" y="5015"/>
                  <a:pt x="6585" y="5041"/>
                </a:cubicBezTo>
                <a:cubicBezTo>
                  <a:pt x="6301" y="5199"/>
                  <a:pt x="5986" y="5262"/>
                  <a:pt x="5671" y="5293"/>
                </a:cubicBezTo>
                <a:lnTo>
                  <a:pt x="5671" y="4569"/>
                </a:lnTo>
                <a:cubicBezTo>
                  <a:pt x="5766" y="4569"/>
                  <a:pt x="5829" y="4506"/>
                  <a:pt x="5923" y="4474"/>
                </a:cubicBezTo>
                <a:cubicBezTo>
                  <a:pt x="6270" y="4348"/>
                  <a:pt x="6648" y="4285"/>
                  <a:pt x="7089" y="4285"/>
                </a:cubicBezTo>
                <a:close/>
                <a:moveTo>
                  <a:pt x="6774" y="0"/>
                </a:moveTo>
                <a:cubicBezTo>
                  <a:pt x="5797" y="0"/>
                  <a:pt x="5010" y="788"/>
                  <a:pt x="5010" y="1765"/>
                </a:cubicBezTo>
                <a:cubicBezTo>
                  <a:pt x="4695" y="1513"/>
                  <a:pt x="4348" y="1418"/>
                  <a:pt x="3938" y="1418"/>
                </a:cubicBezTo>
                <a:cubicBezTo>
                  <a:pt x="3749" y="1418"/>
                  <a:pt x="3592" y="1576"/>
                  <a:pt x="3592" y="1765"/>
                </a:cubicBezTo>
                <a:cubicBezTo>
                  <a:pt x="3592" y="1954"/>
                  <a:pt x="3749" y="2111"/>
                  <a:pt x="3938" y="2111"/>
                </a:cubicBezTo>
                <a:cubicBezTo>
                  <a:pt x="4537" y="2111"/>
                  <a:pt x="5010" y="2584"/>
                  <a:pt x="5010" y="3182"/>
                </a:cubicBezTo>
                <a:lnTo>
                  <a:pt x="5010" y="3812"/>
                </a:lnTo>
                <a:cubicBezTo>
                  <a:pt x="4569" y="3655"/>
                  <a:pt x="4096" y="3560"/>
                  <a:pt x="3592" y="3560"/>
                </a:cubicBezTo>
                <a:cubicBezTo>
                  <a:pt x="1513" y="3560"/>
                  <a:pt x="0" y="4884"/>
                  <a:pt x="0" y="7152"/>
                </a:cubicBezTo>
                <a:cubicBezTo>
                  <a:pt x="0" y="8286"/>
                  <a:pt x="347" y="9515"/>
                  <a:pt x="977" y="10491"/>
                </a:cubicBezTo>
                <a:cubicBezTo>
                  <a:pt x="1702" y="11594"/>
                  <a:pt x="2615" y="12193"/>
                  <a:pt x="3560" y="12193"/>
                </a:cubicBezTo>
                <a:cubicBezTo>
                  <a:pt x="3781" y="12193"/>
                  <a:pt x="3970" y="12161"/>
                  <a:pt x="4222" y="12130"/>
                </a:cubicBezTo>
                <a:cubicBezTo>
                  <a:pt x="4600" y="12004"/>
                  <a:pt x="4970" y="11941"/>
                  <a:pt x="5340" y="11941"/>
                </a:cubicBezTo>
                <a:cubicBezTo>
                  <a:pt x="5711" y="11941"/>
                  <a:pt x="6081" y="12004"/>
                  <a:pt x="6459" y="12130"/>
                </a:cubicBezTo>
                <a:cubicBezTo>
                  <a:pt x="6648" y="12193"/>
                  <a:pt x="6900" y="12193"/>
                  <a:pt x="7152" y="12193"/>
                </a:cubicBezTo>
                <a:cubicBezTo>
                  <a:pt x="8097" y="12193"/>
                  <a:pt x="8979" y="11594"/>
                  <a:pt x="9704" y="10491"/>
                </a:cubicBezTo>
                <a:cubicBezTo>
                  <a:pt x="10334" y="9546"/>
                  <a:pt x="10681" y="8286"/>
                  <a:pt x="10681" y="7152"/>
                </a:cubicBezTo>
                <a:cubicBezTo>
                  <a:pt x="10681" y="4884"/>
                  <a:pt x="9168" y="3560"/>
                  <a:pt x="7089" y="3560"/>
                </a:cubicBezTo>
                <a:cubicBezTo>
                  <a:pt x="6585" y="3560"/>
                  <a:pt x="6112" y="3655"/>
                  <a:pt x="5671" y="3812"/>
                </a:cubicBezTo>
                <a:lnTo>
                  <a:pt x="5671" y="3340"/>
                </a:lnTo>
                <a:lnTo>
                  <a:pt x="5797" y="3214"/>
                </a:lnTo>
                <a:cubicBezTo>
                  <a:pt x="6081" y="2930"/>
                  <a:pt x="6396" y="2836"/>
                  <a:pt x="6774" y="2836"/>
                </a:cubicBezTo>
                <a:cubicBezTo>
                  <a:pt x="8160" y="2836"/>
                  <a:pt x="9263" y="1733"/>
                  <a:pt x="9263" y="347"/>
                </a:cubicBezTo>
                <a:cubicBezTo>
                  <a:pt x="9263" y="158"/>
                  <a:pt x="9105" y="0"/>
                  <a:pt x="89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01075" lIns="101075" spcFirstLastPara="1" rIns="101075" wrap="square" tIns="101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8"/>
          </a:p>
        </p:txBody>
      </p:sp>
      <p:grpSp>
        <p:nvGrpSpPr>
          <p:cNvPr id="632" name="Google Shape;632;p42"/>
          <p:cNvGrpSpPr/>
          <p:nvPr/>
        </p:nvGrpSpPr>
        <p:grpSpPr>
          <a:xfrm>
            <a:off x="4252798" y="1496484"/>
            <a:ext cx="691400" cy="629326"/>
            <a:chOff x="1487200" y="4421025"/>
            <a:chExt cx="483125" cy="439750"/>
          </a:xfrm>
        </p:grpSpPr>
        <p:sp>
          <p:nvSpPr>
            <p:cNvPr id="633" name="Google Shape;633;p42"/>
            <p:cNvSpPr/>
            <p:nvPr/>
          </p:nvSpPr>
          <p:spPr>
            <a:xfrm>
              <a:off x="1487200" y="4421025"/>
              <a:ext cx="483125" cy="439750"/>
            </a:xfrm>
            <a:custGeom>
              <a:rect b="b" l="l" r="r" t="t"/>
              <a:pathLst>
                <a:path extrusionOk="0" h="17590" w="19325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85825" lIns="185825" spcFirstLastPara="1" rIns="185825" wrap="square" tIns="185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46">
                <a:solidFill>
                  <a:srgbClr val="435D74"/>
                </a:solidFill>
              </a:endParaRPr>
            </a:p>
          </p:txBody>
        </p:sp>
        <p:sp>
          <p:nvSpPr>
            <p:cNvPr id="634" name="Google Shape;634;p42"/>
            <p:cNvSpPr/>
            <p:nvPr/>
          </p:nvSpPr>
          <p:spPr>
            <a:xfrm>
              <a:off x="1544950" y="4622200"/>
              <a:ext cx="103950" cy="100025"/>
            </a:xfrm>
            <a:custGeom>
              <a:rect b="b" l="l" r="r" t="t"/>
              <a:pathLst>
                <a:path extrusionOk="0" h="4001" w="4158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85825" lIns="185825" spcFirstLastPara="1" rIns="185825" wrap="square" tIns="185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46">
                <a:solidFill>
                  <a:srgbClr val="435D74"/>
                </a:solidFill>
              </a:endParaRPr>
            </a:p>
          </p:txBody>
        </p:sp>
        <p:sp>
          <p:nvSpPr>
            <p:cNvPr id="635" name="Google Shape;635;p42"/>
            <p:cNvSpPr/>
            <p:nvPr/>
          </p:nvSpPr>
          <p:spPr>
            <a:xfrm>
              <a:off x="1804675" y="4622200"/>
              <a:ext cx="103975" cy="100025"/>
            </a:xfrm>
            <a:custGeom>
              <a:rect b="b" l="l" r="r" t="t"/>
              <a:pathLst>
                <a:path extrusionOk="0" h="4001" w="4159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85825" lIns="185825" spcFirstLastPara="1" rIns="185825" wrap="square" tIns="185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46">
                <a:solidFill>
                  <a:srgbClr val="435D74"/>
                </a:solidFill>
              </a:endParaRPr>
            </a:p>
          </p:txBody>
        </p:sp>
        <p:sp>
          <p:nvSpPr>
            <p:cNvPr id="636" name="Google Shape;636;p42"/>
            <p:cNvSpPr/>
            <p:nvPr/>
          </p:nvSpPr>
          <p:spPr>
            <a:xfrm>
              <a:off x="1667450" y="4661825"/>
              <a:ext cx="119825" cy="28350"/>
            </a:xfrm>
            <a:custGeom>
              <a:rect b="b" l="l" r="r" t="t"/>
              <a:pathLst>
                <a:path extrusionOk="0" h="1134" w="4793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85825" lIns="185825" spcFirstLastPara="1" rIns="185825" wrap="square" tIns="185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46">
                <a:solidFill>
                  <a:srgbClr val="435D74"/>
                </a:solidFill>
              </a:endParaRPr>
            </a:p>
          </p:txBody>
        </p:sp>
      </p:grpSp>
      <p:cxnSp>
        <p:nvCxnSpPr>
          <p:cNvPr id="637" name="Google Shape;637;p42"/>
          <p:cNvCxnSpPr/>
          <p:nvPr/>
        </p:nvCxnSpPr>
        <p:spPr>
          <a:xfrm flipH="1">
            <a:off x="3272485" y="1331868"/>
            <a:ext cx="4500" cy="2981700"/>
          </a:xfrm>
          <a:prstGeom prst="straightConnector1">
            <a:avLst/>
          </a:prstGeom>
          <a:noFill/>
          <a:ln cap="flat" cmpd="sng" w="28575">
            <a:solidFill>
              <a:srgbClr val="FCE5C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2"/>
          <p:cNvCxnSpPr/>
          <p:nvPr/>
        </p:nvCxnSpPr>
        <p:spPr>
          <a:xfrm flipH="1">
            <a:off x="5784196" y="1318997"/>
            <a:ext cx="4500" cy="2981700"/>
          </a:xfrm>
          <a:prstGeom prst="straightConnector1">
            <a:avLst/>
          </a:prstGeom>
          <a:noFill/>
          <a:ln cap="flat" cmpd="sng" w="28575">
            <a:solidFill>
              <a:srgbClr val="FCE5CD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43"/>
          <p:cNvGrpSpPr/>
          <p:nvPr/>
        </p:nvGrpSpPr>
        <p:grpSpPr>
          <a:xfrm>
            <a:off x="3307233" y="295786"/>
            <a:ext cx="5081786" cy="4494229"/>
            <a:chOff x="2764950" y="577141"/>
            <a:chExt cx="3614100" cy="3989197"/>
          </a:xfrm>
        </p:grpSpPr>
        <p:sp>
          <p:nvSpPr>
            <p:cNvPr id="644" name="Google Shape;644;p43"/>
            <p:cNvSpPr/>
            <p:nvPr/>
          </p:nvSpPr>
          <p:spPr>
            <a:xfrm>
              <a:off x="2764950" y="1928234"/>
              <a:ext cx="3614100" cy="1287000"/>
            </a:xfrm>
            <a:prstGeom prst="roundRect">
              <a:avLst>
                <a:gd fmla="val 16667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0">
                <a:solidFill>
                  <a:srgbClr val="645F51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645" name="Google Shape;645;p43"/>
            <p:cNvSpPr txBox="1"/>
            <p:nvPr/>
          </p:nvSpPr>
          <p:spPr>
            <a:xfrm>
              <a:off x="2890167" y="2086162"/>
              <a:ext cx="3300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5F51"/>
                  </a:solidFill>
                  <a:latin typeface="Lato"/>
                  <a:ea typeface="Lato"/>
                  <a:cs typeface="Lato"/>
                  <a:sym typeface="Lato"/>
                </a:rPr>
                <a:t>🌟Tile2: Uber Eats — Seasonal &amp; Category Campaigns</a:t>
              </a:r>
              <a:endParaRPr b="1" sz="1200">
                <a:solidFill>
                  <a:srgbClr val="645F5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6" name="Google Shape;646;p43"/>
            <p:cNvSpPr txBox="1"/>
            <p:nvPr/>
          </p:nvSpPr>
          <p:spPr>
            <a:xfrm>
              <a:off x="2931507" y="2422298"/>
              <a:ext cx="3259800" cy="5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Run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seasonal offers</a:t>
              </a: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Promote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category-based incentives</a:t>
              </a: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 for users’ favorite food types</a:t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Deploy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habit-building nudges</a:t>
              </a: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 to encourage second &amp; third orders</a:t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647" name="Google Shape;647;p43"/>
            <p:cNvCxnSpPr/>
            <p:nvPr/>
          </p:nvCxnSpPr>
          <p:spPr>
            <a:xfrm flipH="1">
              <a:off x="2931513" y="2350766"/>
              <a:ext cx="3259800" cy="13200"/>
            </a:xfrm>
            <a:prstGeom prst="straightConnector1">
              <a:avLst/>
            </a:prstGeom>
            <a:noFill/>
            <a:ln cap="flat" cmpd="sng" w="9525">
              <a:solidFill>
                <a:srgbClr val="645F5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8" name="Google Shape;648;p43"/>
            <p:cNvSpPr/>
            <p:nvPr/>
          </p:nvSpPr>
          <p:spPr>
            <a:xfrm>
              <a:off x="2764950" y="577141"/>
              <a:ext cx="3614100" cy="1287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0">
                <a:solidFill>
                  <a:srgbClr val="645F51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649" name="Google Shape;649;p43"/>
            <p:cNvSpPr txBox="1"/>
            <p:nvPr/>
          </p:nvSpPr>
          <p:spPr>
            <a:xfrm>
              <a:off x="2890165" y="736149"/>
              <a:ext cx="3300900" cy="40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🌟Tile1：</a:t>
              </a:r>
              <a:r>
                <a:rPr b="1" lang="en" sz="12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Uber Rides Regional Reactivation</a:t>
              </a:r>
              <a:endParaRPr b="1" sz="12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50" name="Google Shape;650;p43"/>
            <p:cNvSpPr txBox="1"/>
            <p:nvPr/>
          </p:nvSpPr>
          <p:spPr>
            <a:xfrm>
              <a:off x="2890416" y="1051189"/>
              <a:ext cx="3300900" cy="6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Target low-activation states with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localized ride credits</a:t>
              </a:r>
              <a:endParaRPr b="1"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Send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peak-time reminders</a:t>
              </a: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 to prompt next-ride behavior</a:t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Trigger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geo-based nudges</a:t>
              </a: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 near event zones or busy areas</a:t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651" name="Google Shape;651;p43"/>
            <p:cNvCxnSpPr/>
            <p:nvPr/>
          </p:nvCxnSpPr>
          <p:spPr>
            <a:xfrm flipH="1">
              <a:off x="2890369" y="953749"/>
              <a:ext cx="3300900" cy="17400"/>
            </a:xfrm>
            <a:prstGeom prst="straightConnector1">
              <a:avLst/>
            </a:prstGeom>
            <a:noFill/>
            <a:ln cap="flat" cmpd="sng" w="9525">
              <a:solidFill>
                <a:srgbClr val="645F5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2" name="Google Shape;652;p43"/>
            <p:cNvSpPr/>
            <p:nvPr/>
          </p:nvSpPr>
          <p:spPr>
            <a:xfrm>
              <a:off x="2764950" y="3279337"/>
              <a:ext cx="3614100" cy="1287000"/>
            </a:xfrm>
            <a:prstGeom prst="roundRect">
              <a:avLst>
                <a:gd fmla="val 16667" name="adj"/>
              </a:avLst>
            </a:prstGeom>
            <a:solidFill>
              <a:srgbClr val="F2ECD6"/>
            </a:solidFill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0">
                <a:solidFill>
                  <a:srgbClr val="645F51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653" name="Google Shape;653;p43"/>
            <p:cNvSpPr txBox="1"/>
            <p:nvPr/>
          </p:nvSpPr>
          <p:spPr>
            <a:xfrm>
              <a:off x="2931256" y="3439393"/>
              <a:ext cx="32598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5F51"/>
                  </a:solidFill>
                  <a:latin typeface="Lato"/>
                  <a:ea typeface="Lato"/>
                  <a:cs typeface="Lato"/>
                  <a:sym typeface="Lato"/>
                </a:rPr>
                <a:t>🌟Tile3: Uber One — Dual-Product Growth</a:t>
              </a:r>
              <a:endParaRPr b="1" sz="1200">
                <a:solidFill>
                  <a:srgbClr val="645F5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54" name="Google Shape;654;p43"/>
            <p:cNvSpPr txBox="1"/>
            <p:nvPr/>
          </p:nvSpPr>
          <p:spPr>
            <a:xfrm>
              <a:off x="2931507" y="3828551"/>
              <a:ext cx="3259800" cy="48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Push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unused-benefit reminders</a:t>
              </a: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 before trial ends</a:t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Highlight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dual-product savings</a:t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Char char="●"/>
              </a:pP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Offer </a:t>
              </a:r>
              <a:r>
                <a:rPr b="1"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small renewal credits</a:t>
              </a:r>
              <a:r>
                <a:rPr lang="en" sz="11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 for high-value or dual-product users entering risk zones</a:t>
              </a:r>
              <a:endParaRPr sz="11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655" name="Google Shape;655;p43"/>
            <p:cNvCxnSpPr/>
            <p:nvPr/>
          </p:nvCxnSpPr>
          <p:spPr>
            <a:xfrm flipH="1">
              <a:off x="2934360" y="3720218"/>
              <a:ext cx="3254100" cy="10800"/>
            </a:xfrm>
            <a:prstGeom prst="straightConnector1">
              <a:avLst/>
            </a:prstGeom>
            <a:noFill/>
            <a:ln cap="flat" cmpd="sng" w="9525">
              <a:solidFill>
                <a:srgbClr val="645F5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6" name="Google Shape;656;p43"/>
          <p:cNvSpPr txBox="1"/>
          <p:nvPr/>
        </p:nvSpPr>
        <p:spPr>
          <a:xfrm>
            <a:off x="419050" y="1971950"/>
            <a:ext cx="2489700" cy="13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rPr>
              <a:t>Retention </a:t>
            </a:r>
            <a:endParaRPr b="1" sz="2400">
              <a:solidFill>
                <a:srgbClr val="20124D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rPr>
              <a:t>Recommendations</a:t>
            </a:r>
            <a:endParaRPr b="1" sz="2400">
              <a:solidFill>
                <a:srgbClr val="20124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4"/>
          <p:cNvSpPr txBox="1"/>
          <p:nvPr>
            <p:ph idx="1" type="subTitle"/>
          </p:nvPr>
        </p:nvSpPr>
        <p:spPr>
          <a:xfrm>
            <a:off x="1045299" y="2166200"/>
            <a:ext cx="3099300" cy="81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latin typeface="Oswald"/>
                <a:ea typeface="Oswald"/>
                <a:cs typeface="Oswald"/>
                <a:sym typeface="Oswald"/>
              </a:rPr>
              <a:t>Thank You!</a:t>
            </a:r>
            <a:endParaRPr b="1" sz="52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62" name="Google Shape;662;p44"/>
          <p:cNvPicPr preferRelativeResize="0"/>
          <p:nvPr/>
        </p:nvPicPr>
        <p:blipFill rotWithShape="1">
          <a:blip r:embed="rId3">
            <a:alphaModFix/>
          </a:blip>
          <a:srcRect b="0" l="20153" r="0" t="0"/>
          <a:stretch/>
        </p:blipFill>
        <p:spPr>
          <a:xfrm>
            <a:off x="5031250" y="877300"/>
            <a:ext cx="4545000" cy="3795000"/>
          </a:xfrm>
          <a:prstGeom prst="flowChartConnector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